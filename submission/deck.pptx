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20b6edae9048a2" /><Relationship Type="http://schemas.openxmlformats.org/officeDocument/2006/relationships/extended-properties" Target="/docProps/app.xml" Id="R3d91d85e488049fb" /><Relationship Type="http://schemas.openxmlformats.org/officeDocument/2006/relationships/officeDocument" Target="/ppt/presentation.xml" Id="R9e9526d439224ef3" /></Relationships>
</file>

<file path=ppt/presentation.xml><?xml version="1.0" encoding="utf-8"?>
<p:presentation xmlns:p="http://schemas.openxmlformats.org/presentationml/2006/main">
  <p:sldMasterIdLst>
    <p:sldMasterId xmlns:r="http://schemas.openxmlformats.org/officeDocument/2006/relationships" id="2147483648" r:id="R2c307733d79246a4"/>
  </p:sldMasterIdLst>
  <p:notesMasterIdLst>
    <p:notesMasterId xmlns:r="http://schemas.openxmlformats.org/officeDocument/2006/relationships" r:id="R475402024431479a"/>
  </p:notesMasterIdLst>
  <p:sldIdLst>
    <p:sldId xmlns:r="http://schemas.openxmlformats.org/officeDocument/2006/relationships" id="256" r:id="Rbc57c483646843d2"/>
    <p:sldId xmlns:r="http://schemas.openxmlformats.org/officeDocument/2006/relationships" id="257" r:id="R0e67fcf74c1d495a"/>
    <p:sldId xmlns:r="http://schemas.openxmlformats.org/officeDocument/2006/relationships" id="258" r:id="R08d6ab41f9454742"/>
    <p:sldId xmlns:r="http://schemas.openxmlformats.org/officeDocument/2006/relationships" id="259" r:id="R3d9845f992ea41c8"/>
    <p:sldId xmlns:r="http://schemas.openxmlformats.org/officeDocument/2006/relationships" id="260" r:id="R624674784b2b4e1f"/>
    <p:sldId xmlns:r="http://schemas.openxmlformats.org/officeDocument/2006/relationships" id="261" r:id="R63347177d67445c7"/>
    <p:sldId xmlns:r="http://schemas.openxmlformats.org/officeDocument/2006/relationships" id="262" r:id="Ra84ac67d3b5f400b"/>
    <p:sldId xmlns:r="http://schemas.openxmlformats.org/officeDocument/2006/relationships" id="263" r:id="Rc6de2589136c4e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190d1981634a93" /><Relationship Type="http://schemas.openxmlformats.org/officeDocument/2006/relationships/slideMaster" Target="/ppt/slideMasters/slideMaster1.xml" Id="R2c307733d79246a4" /><Relationship Type="http://schemas.openxmlformats.org/officeDocument/2006/relationships/notesMaster" Target="/ppt/notesMasters/notesMaster1.xml" Id="R475402024431479a" /><Relationship Type="http://schemas.openxmlformats.org/officeDocument/2006/relationships/presProps" Target="/ppt/presProps.xml" Id="Rf06698d16af7403b" /><Relationship Type="http://schemas.openxmlformats.org/officeDocument/2006/relationships/tableStyles" Target="/ppt/tableStyles.xml" Id="R590eb0db0f854dbd" /><Relationship Type="http://schemas.openxmlformats.org/officeDocument/2006/relationships/slide" Target="/ppt/slides/slide1.xml" Id="Rbc57c483646843d2" /><Relationship Type="http://schemas.openxmlformats.org/officeDocument/2006/relationships/slide" Target="/ppt/slides/slide2.xml" Id="R0e67fcf74c1d495a" /><Relationship Type="http://schemas.openxmlformats.org/officeDocument/2006/relationships/slide" Target="/ppt/slides/slide3.xml" Id="R08d6ab41f9454742" /><Relationship Type="http://schemas.openxmlformats.org/officeDocument/2006/relationships/slide" Target="/ppt/slides/slide4.xml" Id="R3d9845f992ea41c8" /><Relationship Type="http://schemas.openxmlformats.org/officeDocument/2006/relationships/slide" Target="/ppt/slides/slide5.xml" Id="R624674784b2b4e1f" /><Relationship Type="http://schemas.openxmlformats.org/officeDocument/2006/relationships/slide" Target="/ppt/slides/slide6.xml" Id="R63347177d67445c7" /><Relationship Type="http://schemas.openxmlformats.org/officeDocument/2006/relationships/slide" Target="/ppt/slides/slide7.xml" Id="Ra84ac67d3b5f400b" /><Relationship Type="http://schemas.openxmlformats.org/officeDocument/2006/relationships/slide" Target="/ppt/slides/slide8.xml" Id="Rc6de2589136c4e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fdadcfee44f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4032e725904a6e" /><Relationship Type="http://schemas.openxmlformats.org/officeDocument/2006/relationships/notesMaster" Target="/ppt/notesMasters/notesMaster1.xml" Id="Rb1136db0a75c4e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337b532d89429d" /><Relationship Type="http://schemas.openxmlformats.org/officeDocument/2006/relationships/notesMaster" Target="/ppt/notesMasters/notesMaster1.xml" Id="R43db0a6af7ab43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d021cd2dc645a0" /><Relationship Type="http://schemas.openxmlformats.org/officeDocument/2006/relationships/notesMaster" Target="/ppt/notesMasters/notesMaster1.xml" Id="R3ad28646b7f24a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8f90bedb384adc" /><Relationship Type="http://schemas.openxmlformats.org/officeDocument/2006/relationships/notesMaster" Target="/ppt/notesMasters/notesMaster1.xml" Id="Rd67aaf36973a4c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2938c035f54733" /><Relationship Type="http://schemas.openxmlformats.org/officeDocument/2006/relationships/notesMaster" Target="/ppt/notesMasters/notesMaster1.xml" Id="R37f97fa4a1594d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294b82f5fa483d" /><Relationship Type="http://schemas.openxmlformats.org/officeDocument/2006/relationships/notesMaster" Target="/ppt/notesMasters/notesMaster1.xml" Id="Rc447479d101245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dae5402207461a" /><Relationship Type="http://schemas.openxmlformats.org/officeDocument/2006/relationships/notesMaster" Target="/ppt/notesMasters/notesMaster1.xml" Id="R134ef88135bd4d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b97cab39954ca3" /><Relationship Type="http://schemas.openxmlformats.org/officeDocument/2006/relationships/notesMaster" Target="/ppt/notesMasters/notesMaster1.xml" Id="R59c83492646c4e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source: docs/PROJECT_BRIEF.md and docs/BRAND.md. Core purpose is BTC-backed business working capital repaid from MUSD customer receipts. Testnet product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docs/PROJECT_BRIEF.md. This describes a target-user hypothesis and scenario, not measured demand or customer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integration proof: deployments/public-testnet-proof.json. Separate sample customer paid 500 MUSD, allocation was 100 MUSD, settlement consumed 100 MUSD and reduced native Mezo debt. The 400 MUSD remainder is arithmetic receipt remainder, not necessarily immediately withdrawable.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source: outputs/tillward-video/assets/public-desktop-live-overview.png. Cropped to funds and repayment-rule panels without changing content. Public demonstration account 0x5B4b9C9AD2E5c6Ef55A4186ad82580B61A67c6C5 at block 16,367,839. Captured read-only on 25 October 2026 through https://tillward.vercel.app/?account=0x5B4b9C9AD2E5c6Ef55A4186ad82580B61A67c6C5. Receipts 502 MUSD, repayment 100.40 MUSD. These are testnet integration values, not business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deployments/public-testnet-proof.json. Open-loan hash 0xa35727c5d4892916f62ab07d18f6ce0b80b8dc837fc6d4840814e78e66af1429. Settlement: https://explorer.test.mezo.org/tx/0x3d464267e44b119fe4c8f172996775157261dd85ee9cdd598e5b27bb04b0fb0d . Native protocol repository: https://github.com/mezo-org/musd . These are testnet integration figures, not business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contracts/RevenueAccount.sol, docs/PROJECT_BRIEF.md, deployments/browser-wallet-proof.json. Only final nonrefundable invoices are within the current scope. Cash-floor protection does not guarantee collateral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deployments/browser-wallet-proof.json and deployments/keeper-enrollment-proof.json. Rabby QA account 0x791fFc8A7420dBB0ed5D9F28E811ec7576936433. Full closure and recovery of all 0.045 test BTC independently checked net of gas. Three enrolled accounts do not imply three borrowers or customer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plan is proposed, not completed. Public repository URL must be verified by release owner before submission. Full restore drill, external monitoring and independent security audit remain operational/mainnet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8d4c6aa25348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0771ea64b940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ebe15cdf9b43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2577482a5740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d7b2bcbfc04b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8487a9c2a342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71DA70-F4E3-452F-8845-2C78A7EF5A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21DEB8-E4AC-43CA-934D-BE55705BE4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1D4944-5142-4E3B-8B2A-447B84081B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AC2A5B-997E-4D6E-A907-73293DD247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BBE202-E33D-4697-B173-E5D383C6A1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CBA794-AAA4-48E7-9079-9A7A4236C6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2EDCD4-66BB-47A1-82A4-355F42048C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A73398-18B8-489C-8462-6A365F07C8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3A7A4B-449E-418B-9481-61E45E40C2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6DC111-7674-414C-9260-0DF83570F0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5e1e4aa2854dab" /><Relationship Type="http://schemas.openxmlformats.org/officeDocument/2006/relationships/slideLayout" Target="/ppt/slideLayouts/slideLayout1.xml" Id="R09ced83636e346d7" /><Relationship Type="http://schemas.openxmlformats.org/officeDocument/2006/relationships/slideLayout" Target="/ppt/slideLayouts/slideLayout2.xml" Id="R008e3a83060c4d15" /><Relationship Type="http://schemas.openxmlformats.org/officeDocument/2006/relationships/slideLayout" Target="/ppt/slideLayouts/slideLayout3.xml" Id="R8fbae3bcd8554e67" /><Relationship Type="http://schemas.openxmlformats.org/officeDocument/2006/relationships/slideLayout" Target="/ppt/slideLayouts/slideLayout4.xml" Id="Rfaa1443d6d45440c" /><Relationship Type="http://schemas.openxmlformats.org/officeDocument/2006/relationships/slideLayout" Target="/ppt/slideLayouts/slideLayout5.xml" Id="R4dcf1a402a2c4d69" /><Relationship Type="http://schemas.openxmlformats.org/officeDocument/2006/relationships/slideLayout" Target="/ppt/slideLayouts/slideLayout6.xml" Id="Reb8a3ef2381147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ced83636e346d7"/>
    <p:sldLayoutId xmlns:r="http://schemas.openxmlformats.org/officeDocument/2006/relationships" id="2147483650" r:id="R008e3a83060c4d15"/>
    <p:sldLayoutId xmlns:r="http://schemas.openxmlformats.org/officeDocument/2006/relationships" id="2147483651" r:id="R8fbae3bcd8554e67"/>
    <p:sldLayoutId xmlns:r="http://schemas.openxmlformats.org/officeDocument/2006/relationships" id="2147483652" r:id="Rfaa1443d6d45440c"/>
    <p:sldLayoutId xmlns:r="http://schemas.openxmlformats.org/officeDocument/2006/relationships" id="2147483653" r:id="R4dcf1a402a2c4d69"/>
    <p:sldLayoutId xmlns:r="http://schemas.openxmlformats.org/officeDocument/2006/relationships" id="2147483654" r:id="Reb8a3ef2381147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1a4f2ae8a145a6" /><Relationship Type="http://schemas.openxmlformats.org/officeDocument/2006/relationships/image" Target="/ppt/media/image.png" Id="R85650494d5d041e6" /><Relationship Type="http://schemas.openxmlformats.org/officeDocument/2006/relationships/image" Target="/ppt/media/image.svg" Id="R3d7e2f9649f341f9" /><Relationship Type="http://schemas.openxmlformats.org/officeDocument/2006/relationships/notesSlide" Target="/ppt/notesSlides/notesSlide1.xml" Id="R4e7091e100c240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34f58b80c446ab" /><Relationship Type="http://schemas.openxmlformats.org/officeDocument/2006/relationships/notesSlide" Target="/ppt/notesSlides/notesSlide2.xml" Id="Rfb1c90c2e366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6f32878a044054" /><Relationship Type="http://schemas.openxmlformats.org/officeDocument/2006/relationships/notesSlide" Target="/ppt/notesSlides/notesSlide3.xml" Id="Rc61024db687348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860e2c8403453b" /><Relationship Type="http://schemas.openxmlformats.org/officeDocument/2006/relationships/image" Target="/ppt/media/image2.png" Id="R78897f4ca0814af1" /><Relationship Type="http://schemas.openxmlformats.org/officeDocument/2006/relationships/notesSlide" Target="/ppt/notesSlides/notesSlide4.xml" Id="R1cf74f321a6c4a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9e22f532ad4e23" /><Relationship Type="http://schemas.openxmlformats.org/officeDocument/2006/relationships/notesSlide" Target="/ppt/notesSlides/notesSlide5.xml" Id="R0eeb00c859a548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b615238fb140ef" /><Relationship Type="http://schemas.openxmlformats.org/officeDocument/2006/relationships/notesSlide" Target="/ppt/notesSlides/notesSlide6.xml" Id="Re35e77eb74da42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809d4210734ba1" /><Relationship Type="http://schemas.openxmlformats.org/officeDocument/2006/relationships/notesSlide" Target="/ppt/notesSlides/notesSlide7.xml" Id="R9b95573d5a7949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243eba34bb4672" /><Relationship Type="http://schemas.openxmlformats.org/officeDocument/2006/relationships/notesSlide" Target="/ppt/notesSlides/notesSlide8.xml" Id="R1dd826daa74e4fda" /></Relationships>
</file>

<file path=ppt/slides/slide1.xml><?xml version="1.0" encoding="utf-8"?>
<p:sld xmlns:p="http://schemas.openxmlformats.org/presentationml/2006/main">
  <p:cSld>
    <p:bg>
      <p:bgPr>
        <a:solidFill xmlns:a="http://schemas.openxmlformats.org/drawingml/2006/main">
          <a:srgbClr val="2425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471D86-201C-46FC-98EC-F4B5F3637344}"/>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528DE5-789F-41CC-B86C-DB9B76D86CC4}"/>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F6F2E9"/>
                </a:solidFill>
                <a:latin typeface="Arial"/>
                <a:ea typeface="Arial"/>
                <a:cs typeface="Arial"/>
              </a:defRPr>
            </a:defPPr>
            <a:lvl1pPr>
              <a:defRPr sz="975" b="1">
                <a:solidFill>
                  <a:srgbClr val="F6F2E9"/>
                </a:solidFill>
                <a:latin typeface="Arial"/>
                <a:ea typeface="Arial"/>
                <a:cs typeface="Arial"/>
              </a:defRPr>
            </a:lvl1pPr>
            <a:lvl2pPr>
              <a:defRPr sz="975" b="1">
                <a:solidFill>
                  <a:srgbClr val="F6F2E9"/>
                </a:solidFill>
                <a:latin typeface="Arial"/>
                <a:ea typeface="Arial"/>
                <a:cs typeface="Arial"/>
              </a:defRPr>
            </a:lvl2pPr>
            <a:lvl3pPr>
              <a:defRPr sz="975" b="1">
                <a:solidFill>
                  <a:srgbClr val="F6F2E9"/>
                </a:solidFill>
                <a:latin typeface="Arial"/>
                <a:ea typeface="Arial"/>
                <a:cs typeface="Arial"/>
              </a:defRPr>
            </a:lvl3pPr>
            <a:lvl4pPr>
              <a:defRPr sz="975" b="1">
                <a:solidFill>
                  <a:srgbClr val="F6F2E9"/>
                </a:solidFill>
                <a:latin typeface="Arial"/>
                <a:ea typeface="Arial"/>
                <a:cs typeface="Arial"/>
              </a:defRPr>
            </a:lvl4pPr>
            <a:lvl5pPr>
              <a:defRPr sz="975" b="1">
                <a:solidFill>
                  <a:srgbClr val="F6F2E9"/>
                </a:solidFill>
                <a:latin typeface="Arial"/>
                <a:ea typeface="Arial"/>
                <a:cs typeface="Arial"/>
              </a:defRPr>
            </a:lvl5pPr>
            <a:lvl6pPr>
              <a:defRPr sz="975" b="1">
                <a:solidFill>
                  <a:srgbClr val="F6F2E9"/>
                </a:solidFill>
                <a:latin typeface="Arial"/>
                <a:ea typeface="Arial"/>
                <a:cs typeface="Arial"/>
              </a:defRPr>
            </a:lvl6pPr>
            <a:lvl7pPr>
              <a:defRPr sz="975" b="1">
                <a:solidFill>
                  <a:srgbClr val="F6F2E9"/>
                </a:solidFill>
                <a:latin typeface="Arial"/>
                <a:ea typeface="Arial"/>
                <a:cs typeface="Arial"/>
              </a:defRPr>
            </a:lvl7pPr>
            <a:lvl8pPr>
              <a:defRPr sz="975" b="1">
                <a:solidFill>
                  <a:srgbClr val="F6F2E9"/>
                </a:solidFill>
                <a:latin typeface="Arial"/>
                <a:ea typeface="Arial"/>
                <a:cs typeface="Arial"/>
              </a:defRPr>
            </a:lvl8pPr>
            <a:lvl9pPr>
              <a:defRPr sz="975" b="1">
                <a:solidFill>
                  <a:srgbClr val="F6F2E9"/>
                </a:solidFill>
                <a:latin typeface="Arial"/>
                <a:ea typeface="Arial"/>
                <a:cs typeface="Arial"/>
              </a:defRPr>
            </a:lvl9pPr>
          </a:lstStyle>
          <a:p xmlns:a="http://schemas.openxmlformats.org/drawingml/2006/main">
            <a:pPr>
              <a:defRPr sz="975" b="1">
                <a:solidFill>
                  <a:srgbClr val="F6F2E9"/>
                </a:solidFill>
                <a:latin typeface="Arial"/>
                <a:ea typeface="Arial"/>
                <a:cs typeface="Arial"/>
              </a:defRPr>
            </a:pPr>
            <a:r>
              <a:rPr sz="975" b="1">
                <a:solidFill>
                  <a:srgbClr val="F6F2E9"/>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D5A59728-6E7F-4696-AA65-9FCBAC039417}"/>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F6F2E9"/>
                </a:solidFill>
                <a:latin typeface="Arial"/>
                <a:ea typeface="Arial"/>
                <a:cs typeface="Arial"/>
              </a:defRPr>
            </a:defPPr>
            <a:lvl1pPr>
              <a:defRPr sz="975" b="0">
                <a:solidFill>
                  <a:srgbClr val="F6F2E9"/>
                </a:solidFill>
                <a:latin typeface="Arial"/>
                <a:ea typeface="Arial"/>
                <a:cs typeface="Arial"/>
              </a:defRPr>
            </a:lvl1pPr>
            <a:lvl2pPr>
              <a:defRPr sz="975" b="0">
                <a:solidFill>
                  <a:srgbClr val="F6F2E9"/>
                </a:solidFill>
                <a:latin typeface="Arial"/>
                <a:ea typeface="Arial"/>
                <a:cs typeface="Arial"/>
              </a:defRPr>
            </a:lvl2pPr>
            <a:lvl3pPr>
              <a:defRPr sz="975" b="0">
                <a:solidFill>
                  <a:srgbClr val="F6F2E9"/>
                </a:solidFill>
                <a:latin typeface="Arial"/>
                <a:ea typeface="Arial"/>
                <a:cs typeface="Arial"/>
              </a:defRPr>
            </a:lvl3pPr>
            <a:lvl4pPr>
              <a:defRPr sz="975" b="0">
                <a:solidFill>
                  <a:srgbClr val="F6F2E9"/>
                </a:solidFill>
                <a:latin typeface="Arial"/>
                <a:ea typeface="Arial"/>
                <a:cs typeface="Arial"/>
              </a:defRPr>
            </a:lvl4pPr>
            <a:lvl5pPr>
              <a:defRPr sz="975" b="0">
                <a:solidFill>
                  <a:srgbClr val="F6F2E9"/>
                </a:solidFill>
                <a:latin typeface="Arial"/>
                <a:ea typeface="Arial"/>
                <a:cs typeface="Arial"/>
              </a:defRPr>
            </a:lvl5pPr>
            <a:lvl6pPr>
              <a:defRPr sz="975" b="0">
                <a:solidFill>
                  <a:srgbClr val="F6F2E9"/>
                </a:solidFill>
                <a:latin typeface="Arial"/>
                <a:ea typeface="Arial"/>
                <a:cs typeface="Arial"/>
              </a:defRPr>
            </a:lvl6pPr>
            <a:lvl7pPr>
              <a:defRPr sz="975" b="0">
                <a:solidFill>
                  <a:srgbClr val="F6F2E9"/>
                </a:solidFill>
                <a:latin typeface="Arial"/>
                <a:ea typeface="Arial"/>
                <a:cs typeface="Arial"/>
              </a:defRPr>
            </a:lvl7pPr>
            <a:lvl8pPr>
              <a:defRPr sz="975" b="0">
                <a:solidFill>
                  <a:srgbClr val="F6F2E9"/>
                </a:solidFill>
                <a:latin typeface="Arial"/>
                <a:ea typeface="Arial"/>
                <a:cs typeface="Arial"/>
              </a:defRPr>
            </a:lvl8pPr>
            <a:lvl9pPr>
              <a:defRPr sz="975" b="0">
                <a:solidFill>
                  <a:srgbClr val="F6F2E9"/>
                </a:solidFill>
                <a:latin typeface="Arial"/>
                <a:ea typeface="Arial"/>
                <a:cs typeface="Arial"/>
              </a:defRPr>
            </a:lvl9pPr>
          </a:lstStyle>
          <a:p xmlns:a="http://schemas.openxmlformats.org/drawingml/2006/main">
            <a:pPr>
              <a:defRPr sz="975" b="0">
                <a:solidFill>
                  <a:srgbClr val="F6F2E9"/>
                </a:solidFill>
                <a:latin typeface="Arial"/>
                <a:ea typeface="Arial"/>
                <a:cs typeface="Arial"/>
              </a:defRPr>
            </a:pPr>
            <a:r>
              <a:rPr sz="975" b="0">
                <a:solidFill>
                  <a:srgbClr val="F6F2E9"/>
                </a:solidFill>
                <a:latin typeface="Arial"/>
                <a:ea typeface="Arial"/>
                <a:cs typeface="Arial"/>
              </a:rPr>
              <a:t>01</a:t>
            </a:r>
          </a:p>
        </p:txBody>
      </p:sp>
      <p:pic>
        <p:nvPicPr>
          <p:cNvPr id="4" name="">
            <a:extLst xmlns:a="http://schemas.openxmlformats.org/drawingml/2006/main">
              <a:ext uri="{FF2B5EF4-FFF2-40B4-BE49-F238E27FC236}">
                <a16:creationId xmlns:a16="http://schemas.microsoft.com/office/drawing/2014/main" id="{121F83F4-A7E4-4E47-AF3D-A941C2C9217D}"/>
              </a:ext>
            </a:extLst>
          </p:cNvPr>
          <p:cNvPicPr>
            <a:picLocks xmlns:a="http://schemas.openxmlformats.org/drawingml/2006/main" noChangeAspect="1"/>
          </p:cNvPicPr>
          <p:nvPr/>
        </p:nvPicPr>
        <p:blipFill>
          <a:blip xmlns:r="http://schemas.openxmlformats.org/officeDocument/2006/relationships" xmlns:a="http://schemas.openxmlformats.org/drawingml/2006/main" r:embed="R85650494d5d041e6">
            <a:extLst>
              <a:ext uri="{96DAC541-7B7A-43D3-8B79-37D633B846F1}">
                <asvg:svgBlip xmlns:asvg="http://schemas.microsoft.com/office/drawing/2016/SVG/main" r:embed="R3d7e2f9649f341f9"/>
              </a:ext>
            </a:extLst>
          </a:blip>
          <a:stretch xmlns:a="http://schemas.openxmlformats.org/drawingml/2006/main"/>
        </p:blipFill>
        <p:spPr>
          <a:xfrm xmlns:a="http://schemas.openxmlformats.org/drawingml/2006/main">
            <a:off x="9715500" y="1123950"/>
            <a:ext cx="1714500" cy="1714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23683F-1106-4557-9D93-4E6030B97EC5}"/>
              </a:ext>
            </a:extLst>
          </p:cNvPr>
          <p:cNvSpPr>
            <a:spLocks xmlns:a="http://schemas.openxmlformats.org/drawingml/2006/main" noGrp="1"/>
          </p:cNvSpPr>
          <p:nvPr/>
        </p:nvSpPr>
        <p:spPr>
          <a:xfrm xmlns:a="http://schemas.openxmlformats.org/drawingml/2006/main">
            <a:off x="609600" y="127635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0">
                <a:solidFill>
                  <a:srgbClr val="F6F2E9"/>
                </a:solidFill>
                <a:latin typeface="Georgia"/>
                <a:ea typeface="Georgia"/>
                <a:cs typeface="Georgia"/>
              </a:defRPr>
            </a:defPPr>
            <a:lvl1pPr>
              <a:defRPr sz="7200" b="0">
                <a:solidFill>
                  <a:srgbClr val="F6F2E9"/>
                </a:solidFill>
                <a:latin typeface="Georgia"/>
                <a:ea typeface="Georgia"/>
                <a:cs typeface="Georgia"/>
              </a:defRPr>
            </a:lvl1pPr>
            <a:lvl2pPr>
              <a:defRPr sz="7200" b="0">
                <a:solidFill>
                  <a:srgbClr val="F6F2E9"/>
                </a:solidFill>
                <a:latin typeface="Georgia"/>
                <a:ea typeface="Georgia"/>
                <a:cs typeface="Georgia"/>
              </a:defRPr>
            </a:lvl2pPr>
            <a:lvl3pPr>
              <a:defRPr sz="7200" b="0">
                <a:solidFill>
                  <a:srgbClr val="F6F2E9"/>
                </a:solidFill>
                <a:latin typeface="Georgia"/>
                <a:ea typeface="Georgia"/>
                <a:cs typeface="Georgia"/>
              </a:defRPr>
            </a:lvl3pPr>
            <a:lvl4pPr>
              <a:defRPr sz="7200" b="0">
                <a:solidFill>
                  <a:srgbClr val="F6F2E9"/>
                </a:solidFill>
                <a:latin typeface="Georgia"/>
                <a:ea typeface="Georgia"/>
                <a:cs typeface="Georgia"/>
              </a:defRPr>
            </a:lvl4pPr>
            <a:lvl5pPr>
              <a:defRPr sz="7200" b="0">
                <a:solidFill>
                  <a:srgbClr val="F6F2E9"/>
                </a:solidFill>
                <a:latin typeface="Georgia"/>
                <a:ea typeface="Georgia"/>
                <a:cs typeface="Georgia"/>
              </a:defRPr>
            </a:lvl5pPr>
            <a:lvl6pPr>
              <a:defRPr sz="7200" b="0">
                <a:solidFill>
                  <a:srgbClr val="F6F2E9"/>
                </a:solidFill>
                <a:latin typeface="Georgia"/>
                <a:ea typeface="Georgia"/>
                <a:cs typeface="Georgia"/>
              </a:defRPr>
            </a:lvl6pPr>
            <a:lvl7pPr>
              <a:defRPr sz="7200" b="0">
                <a:solidFill>
                  <a:srgbClr val="F6F2E9"/>
                </a:solidFill>
                <a:latin typeface="Georgia"/>
                <a:ea typeface="Georgia"/>
                <a:cs typeface="Georgia"/>
              </a:defRPr>
            </a:lvl7pPr>
            <a:lvl8pPr>
              <a:defRPr sz="7200" b="0">
                <a:solidFill>
                  <a:srgbClr val="F6F2E9"/>
                </a:solidFill>
                <a:latin typeface="Georgia"/>
                <a:ea typeface="Georgia"/>
                <a:cs typeface="Georgia"/>
              </a:defRPr>
            </a:lvl8pPr>
            <a:lvl9pPr>
              <a:defRPr sz="7200" b="0">
                <a:solidFill>
                  <a:srgbClr val="F6F2E9"/>
                </a:solidFill>
                <a:latin typeface="Georgia"/>
                <a:ea typeface="Georgia"/>
                <a:cs typeface="Georgia"/>
              </a:defRPr>
            </a:lvl9pPr>
          </a:lstStyle>
          <a:p xmlns:a="http://schemas.openxmlformats.org/drawingml/2006/main">
            <a:pPr>
              <a:defRPr sz="7200" b="0">
                <a:solidFill>
                  <a:srgbClr val="F6F2E9"/>
                </a:solidFill>
                <a:latin typeface="Georgia"/>
                <a:ea typeface="Georgia"/>
                <a:cs typeface="Georgia"/>
              </a:defRPr>
            </a:pPr>
            <a:r>
              <a:rPr sz="7200" b="0">
                <a:solidFill>
                  <a:srgbClr val="F6F2E9"/>
                </a:solidFill>
                <a:latin typeface="Georgia"/>
                <a:ea typeface="Georgia"/>
                <a:cs typeface="Georgia"/>
              </a:rPr>
              <a:t>Tillward</a:t>
            </a:r>
          </a:p>
        </p:txBody>
      </p:sp>
      <p:sp>
        <p:nvSpPr>
          <p:cNvPr id="6" name="">
            <a:extLst xmlns:a="http://schemas.openxmlformats.org/drawingml/2006/main">
              <a:ext uri="{FF2B5EF4-FFF2-40B4-BE49-F238E27FC236}">
                <a16:creationId xmlns:a16="http://schemas.microsoft.com/office/drawing/2014/main" id="{75EAE33A-2191-420D-B4B1-61864FD63C18}"/>
              </a:ext>
            </a:extLst>
          </p:cNvPr>
          <p:cNvSpPr>
            <a:spLocks xmlns:a="http://schemas.openxmlformats.org/drawingml/2006/main" noGrp="1"/>
          </p:cNvSpPr>
          <p:nvPr/>
        </p:nvSpPr>
        <p:spPr>
          <a:xfrm xmlns:a="http://schemas.openxmlformats.org/drawingml/2006/main">
            <a:off x="647700" y="27813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F6F2E9"/>
                </a:solidFill>
                <a:latin typeface="Georgia"/>
                <a:ea typeface="Georgia"/>
                <a:cs typeface="Georgia"/>
              </a:defRPr>
            </a:defPPr>
            <a:lvl1pPr>
              <a:defRPr sz="3600" b="0">
                <a:solidFill>
                  <a:srgbClr val="F6F2E9"/>
                </a:solidFill>
                <a:latin typeface="Georgia"/>
                <a:ea typeface="Georgia"/>
                <a:cs typeface="Georgia"/>
              </a:defRPr>
            </a:lvl1pPr>
            <a:lvl2pPr>
              <a:defRPr sz="3600" b="0">
                <a:solidFill>
                  <a:srgbClr val="F6F2E9"/>
                </a:solidFill>
                <a:latin typeface="Georgia"/>
                <a:ea typeface="Georgia"/>
                <a:cs typeface="Georgia"/>
              </a:defRPr>
            </a:lvl2pPr>
            <a:lvl3pPr>
              <a:defRPr sz="3600" b="0">
                <a:solidFill>
                  <a:srgbClr val="F6F2E9"/>
                </a:solidFill>
                <a:latin typeface="Georgia"/>
                <a:ea typeface="Georgia"/>
                <a:cs typeface="Georgia"/>
              </a:defRPr>
            </a:lvl3pPr>
            <a:lvl4pPr>
              <a:defRPr sz="3600" b="0">
                <a:solidFill>
                  <a:srgbClr val="F6F2E9"/>
                </a:solidFill>
                <a:latin typeface="Georgia"/>
                <a:ea typeface="Georgia"/>
                <a:cs typeface="Georgia"/>
              </a:defRPr>
            </a:lvl4pPr>
            <a:lvl5pPr>
              <a:defRPr sz="3600" b="0">
                <a:solidFill>
                  <a:srgbClr val="F6F2E9"/>
                </a:solidFill>
                <a:latin typeface="Georgia"/>
                <a:ea typeface="Georgia"/>
                <a:cs typeface="Georgia"/>
              </a:defRPr>
            </a:lvl5pPr>
            <a:lvl6pPr>
              <a:defRPr sz="3600" b="0">
                <a:solidFill>
                  <a:srgbClr val="F6F2E9"/>
                </a:solidFill>
                <a:latin typeface="Georgia"/>
                <a:ea typeface="Georgia"/>
                <a:cs typeface="Georgia"/>
              </a:defRPr>
            </a:lvl6pPr>
            <a:lvl7pPr>
              <a:defRPr sz="3600" b="0">
                <a:solidFill>
                  <a:srgbClr val="F6F2E9"/>
                </a:solidFill>
                <a:latin typeface="Georgia"/>
                <a:ea typeface="Georgia"/>
                <a:cs typeface="Georgia"/>
              </a:defRPr>
            </a:lvl7pPr>
            <a:lvl8pPr>
              <a:defRPr sz="3600" b="0">
                <a:solidFill>
                  <a:srgbClr val="F6F2E9"/>
                </a:solidFill>
                <a:latin typeface="Georgia"/>
                <a:ea typeface="Georgia"/>
                <a:cs typeface="Georgia"/>
              </a:defRPr>
            </a:lvl8pPr>
            <a:lvl9pPr>
              <a:defRPr sz="3600" b="0">
                <a:solidFill>
                  <a:srgbClr val="F6F2E9"/>
                </a:solidFill>
                <a:latin typeface="Georgia"/>
                <a:ea typeface="Georgia"/>
                <a:cs typeface="Georgia"/>
              </a:defRPr>
            </a:lvl9pPr>
          </a:lstStyle>
          <a:p xmlns:a="http://schemas.openxmlformats.org/drawingml/2006/main">
            <a:pPr>
              <a:defRPr sz="3600" b="0">
                <a:solidFill>
                  <a:srgbClr val="F6F2E9"/>
                </a:solidFill>
                <a:latin typeface="Georgia"/>
                <a:ea typeface="Georgia"/>
                <a:cs typeface="Georgia"/>
              </a:defRPr>
            </a:pPr>
            <a:r>
              <a:rPr sz="3600" b="0">
                <a:solidFill>
                  <a:srgbClr val="F6F2E9"/>
                </a:solidFill>
                <a:latin typeface="Georgia"/>
                <a:ea typeface="Georgia"/>
                <a:cs typeface="Georgia"/>
              </a:rPr>
              <a:t>BTC-backed working capital</a:t>
            </a:r>
          </a:p>
        </p:txBody>
      </p:sp>
      <p:sp>
        <p:nvSpPr>
          <p:cNvPr id="7" name="">
            <a:extLst xmlns:a="http://schemas.openxmlformats.org/drawingml/2006/main">
              <a:ext uri="{FF2B5EF4-FFF2-40B4-BE49-F238E27FC236}">
                <a16:creationId xmlns:a16="http://schemas.microsoft.com/office/drawing/2014/main" id="{9FAB43EF-C4F7-4B74-B79E-AE216A5BE33B}"/>
              </a:ext>
            </a:extLst>
          </p:cNvPr>
          <p:cNvSpPr>
            <a:spLocks xmlns:a="http://schemas.openxmlformats.org/drawingml/2006/main" noGrp="1"/>
          </p:cNvSpPr>
          <p:nvPr/>
        </p:nvSpPr>
        <p:spPr>
          <a:xfrm xmlns:a="http://schemas.openxmlformats.org/drawingml/2006/main">
            <a:off x="647700" y="3600450"/>
            <a:ext cx="971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D8B5A8"/>
                </a:solidFill>
                <a:latin typeface="Georgia"/>
                <a:ea typeface="Georgia"/>
                <a:cs typeface="Georgia"/>
              </a:defRPr>
            </a:defPPr>
            <a:lvl1pPr>
              <a:defRPr sz="3225" b="0">
                <a:solidFill>
                  <a:srgbClr val="D8B5A8"/>
                </a:solidFill>
                <a:latin typeface="Georgia"/>
                <a:ea typeface="Georgia"/>
                <a:cs typeface="Georgia"/>
              </a:defRPr>
            </a:lvl1pPr>
            <a:lvl2pPr>
              <a:defRPr sz="3225" b="0">
                <a:solidFill>
                  <a:srgbClr val="D8B5A8"/>
                </a:solidFill>
                <a:latin typeface="Georgia"/>
                <a:ea typeface="Georgia"/>
                <a:cs typeface="Georgia"/>
              </a:defRPr>
            </a:lvl2pPr>
            <a:lvl3pPr>
              <a:defRPr sz="3225" b="0">
                <a:solidFill>
                  <a:srgbClr val="D8B5A8"/>
                </a:solidFill>
                <a:latin typeface="Georgia"/>
                <a:ea typeface="Georgia"/>
                <a:cs typeface="Georgia"/>
              </a:defRPr>
            </a:lvl3pPr>
            <a:lvl4pPr>
              <a:defRPr sz="3225" b="0">
                <a:solidFill>
                  <a:srgbClr val="D8B5A8"/>
                </a:solidFill>
                <a:latin typeface="Georgia"/>
                <a:ea typeface="Georgia"/>
                <a:cs typeface="Georgia"/>
              </a:defRPr>
            </a:lvl4pPr>
            <a:lvl5pPr>
              <a:defRPr sz="3225" b="0">
                <a:solidFill>
                  <a:srgbClr val="D8B5A8"/>
                </a:solidFill>
                <a:latin typeface="Georgia"/>
                <a:ea typeface="Georgia"/>
                <a:cs typeface="Georgia"/>
              </a:defRPr>
            </a:lvl5pPr>
            <a:lvl6pPr>
              <a:defRPr sz="3225" b="0">
                <a:solidFill>
                  <a:srgbClr val="D8B5A8"/>
                </a:solidFill>
                <a:latin typeface="Georgia"/>
                <a:ea typeface="Georgia"/>
                <a:cs typeface="Georgia"/>
              </a:defRPr>
            </a:lvl6pPr>
            <a:lvl7pPr>
              <a:defRPr sz="3225" b="0">
                <a:solidFill>
                  <a:srgbClr val="D8B5A8"/>
                </a:solidFill>
                <a:latin typeface="Georgia"/>
                <a:ea typeface="Georgia"/>
                <a:cs typeface="Georgia"/>
              </a:defRPr>
            </a:lvl7pPr>
            <a:lvl8pPr>
              <a:defRPr sz="3225" b="0">
                <a:solidFill>
                  <a:srgbClr val="D8B5A8"/>
                </a:solidFill>
                <a:latin typeface="Georgia"/>
                <a:ea typeface="Georgia"/>
                <a:cs typeface="Georgia"/>
              </a:defRPr>
            </a:lvl8pPr>
            <a:lvl9pPr>
              <a:defRPr sz="3225" b="0">
                <a:solidFill>
                  <a:srgbClr val="D8B5A8"/>
                </a:solidFill>
                <a:latin typeface="Georgia"/>
                <a:ea typeface="Georgia"/>
                <a:cs typeface="Georgia"/>
              </a:defRPr>
            </a:lvl9pPr>
          </a:lstStyle>
          <a:p xmlns:a="http://schemas.openxmlformats.org/drawingml/2006/main">
            <a:pPr>
              <a:defRPr sz="3225" b="0">
                <a:solidFill>
                  <a:srgbClr val="D8B5A8"/>
                </a:solidFill>
                <a:latin typeface="Georgia"/>
                <a:ea typeface="Georgia"/>
                <a:cs typeface="Georgia"/>
              </a:defRPr>
            </a:pPr>
            <a:r>
              <a:rPr sz="3225" b="0">
                <a:solidFill>
                  <a:srgbClr val="D8B5A8"/>
                </a:solidFill>
                <a:latin typeface="Georgia"/>
                <a:ea typeface="Georgia"/>
                <a:cs typeface="Georgia"/>
              </a:rPr>
              <a:t>Repay as customer receipts arrive</a:t>
            </a:r>
          </a:p>
        </p:txBody>
      </p:sp>
      <p:sp>
        <p:nvSpPr>
          <p:cNvPr id="8" name="">
            <a:extLst xmlns:a="http://schemas.openxmlformats.org/drawingml/2006/main">
              <a:ext uri="{FF2B5EF4-FFF2-40B4-BE49-F238E27FC236}">
                <a16:creationId xmlns:a16="http://schemas.microsoft.com/office/drawing/2014/main" id="{D927A028-D3D7-485C-BE62-8D74CAA03672}"/>
              </a:ext>
            </a:extLst>
          </p:cNvPr>
          <p:cNvSpPr>
            <a:spLocks xmlns:a="http://schemas.openxmlformats.org/drawingml/2006/main" noGrp="1"/>
          </p:cNvSpPr>
          <p:nvPr/>
        </p:nvSpPr>
        <p:spPr>
          <a:xfrm xmlns:a="http://schemas.openxmlformats.org/drawingml/2006/main">
            <a:off x="647700" y="4819650"/>
            <a:ext cx="6419850" cy="76200"/>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8D35EE-13F7-4575-A03F-3069868A397E}"/>
              </a:ext>
            </a:extLst>
          </p:cNvPr>
          <p:cNvSpPr>
            <a:spLocks xmlns:a="http://schemas.openxmlformats.org/drawingml/2006/main" noGrp="1"/>
          </p:cNvSpPr>
          <p:nvPr/>
        </p:nvSpPr>
        <p:spPr>
          <a:xfrm xmlns:a="http://schemas.openxmlformats.org/drawingml/2006/main">
            <a:off x="647700" y="525780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6F2E9"/>
                </a:solidFill>
                <a:latin typeface="Arial"/>
                <a:ea typeface="Arial"/>
                <a:cs typeface="Arial"/>
              </a:defRPr>
            </a:defPPr>
            <a:lvl1pPr>
              <a:defRPr sz="2025" b="0">
                <a:solidFill>
                  <a:srgbClr val="F6F2E9"/>
                </a:solidFill>
                <a:latin typeface="Arial"/>
                <a:ea typeface="Arial"/>
                <a:cs typeface="Arial"/>
              </a:defRPr>
            </a:lvl1pPr>
            <a:lvl2pPr>
              <a:defRPr sz="2025" b="0">
                <a:solidFill>
                  <a:srgbClr val="F6F2E9"/>
                </a:solidFill>
                <a:latin typeface="Arial"/>
                <a:ea typeface="Arial"/>
                <a:cs typeface="Arial"/>
              </a:defRPr>
            </a:lvl2pPr>
            <a:lvl3pPr>
              <a:defRPr sz="2025" b="0">
                <a:solidFill>
                  <a:srgbClr val="F6F2E9"/>
                </a:solidFill>
                <a:latin typeface="Arial"/>
                <a:ea typeface="Arial"/>
                <a:cs typeface="Arial"/>
              </a:defRPr>
            </a:lvl3pPr>
            <a:lvl4pPr>
              <a:defRPr sz="2025" b="0">
                <a:solidFill>
                  <a:srgbClr val="F6F2E9"/>
                </a:solidFill>
                <a:latin typeface="Arial"/>
                <a:ea typeface="Arial"/>
                <a:cs typeface="Arial"/>
              </a:defRPr>
            </a:lvl4pPr>
            <a:lvl5pPr>
              <a:defRPr sz="2025" b="0">
                <a:solidFill>
                  <a:srgbClr val="F6F2E9"/>
                </a:solidFill>
                <a:latin typeface="Arial"/>
                <a:ea typeface="Arial"/>
                <a:cs typeface="Arial"/>
              </a:defRPr>
            </a:lvl5pPr>
            <a:lvl6pPr>
              <a:defRPr sz="2025" b="0">
                <a:solidFill>
                  <a:srgbClr val="F6F2E9"/>
                </a:solidFill>
                <a:latin typeface="Arial"/>
                <a:ea typeface="Arial"/>
                <a:cs typeface="Arial"/>
              </a:defRPr>
            </a:lvl6pPr>
            <a:lvl7pPr>
              <a:defRPr sz="2025" b="0">
                <a:solidFill>
                  <a:srgbClr val="F6F2E9"/>
                </a:solidFill>
                <a:latin typeface="Arial"/>
                <a:ea typeface="Arial"/>
                <a:cs typeface="Arial"/>
              </a:defRPr>
            </a:lvl7pPr>
            <a:lvl8pPr>
              <a:defRPr sz="2025" b="0">
                <a:solidFill>
                  <a:srgbClr val="F6F2E9"/>
                </a:solidFill>
                <a:latin typeface="Arial"/>
                <a:ea typeface="Arial"/>
                <a:cs typeface="Arial"/>
              </a:defRPr>
            </a:lvl8pPr>
            <a:lvl9pPr>
              <a:defRPr sz="2025" b="0">
                <a:solidFill>
                  <a:srgbClr val="F6F2E9"/>
                </a:solidFill>
                <a:latin typeface="Arial"/>
                <a:ea typeface="Arial"/>
                <a:cs typeface="Arial"/>
              </a:defRPr>
            </a:lvl9pPr>
          </a:lstStyle>
          <a:p xmlns:a="http://schemas.openxmlformats.org/drawingml/2006/main">
            <a:pPr>
              <a:defRPr sz="2025" b="0">
                <a:solidFill>
                  <a:srgbClr val="F6F2E9"/>
                </a:solidFill>
                <a:latin typeface="Arial"/>
                <a:ea typeface="Arial"/>
                <a:cs typeface="Arial"/>
              </a:defRPr>
            </a:pPr>
            <a:r>
              <a:rPr sz="2025" b="0">
                <a:solidFill>
                  <a:srgbClr val="F6F2E9"/>
                </a:solidFill>
                <a:latin typeface="Arial"/>
                <a:ea typeface="Arial"/>
                <a:cs typeface="Arial"/>
              </a:rPr>
              <a:t>An owner-controlled MUSD workspace on Mezo</a:t>
            </a:r>
          </a:p>
        </p:txBody>
      </p:sp>
      <p:sp>
        <p:nvSpPr>
          <p:cNvPr id="10" name="">
            <a:extLst xmlns:a="http://schemas.openxmlformats.org/drawingml/2006/main">
              <a:ext uri="{FF2B5EF4-FFF2-40B4-BE49-F238E27FC236}">
                <a16:creationId xmlns:a16="http://schemas.microsoft.com/office/drawing/2014/main" id="{37D6F8F1-752E-401F-B957-A18D4F81DA25}"/>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6B8AA"/>
                </a:solidFill>
                <a:latin typeface="Arial"/>
                <a:ea typeface="Arial"/>
                <a:cs typeface="Arial"/>
              </a:defRPr>
            </a:defPPr>
            <a:lvl1pPr>
              <a:defRPr sz="1125" b="0">
                <a:solidFill>
                  <a:srgbClr val="B6B8AA"/>
                </a:solidFill>
                <a:latin typeface="Arial"/>
                <a:ea typeface="Arial"/>
                <a:cs typeface="Arial"/>
              </a:defRPr>
            </a:lvl1pPr>
            <a:lvl2pPr>
              <a:defRPr sz="1125" b="0">
                <a:solidFill>
                  <a:srgbClr val="B6B8AA"/>
                </a:solidFill>
                <a:latin typeface="Arial"/>
                <a:ea typeface="Arial"/>
                <a:cs typeface="Arial"/>
              </a:defRPr>
            </a:lvl2pPr>
            <a:lvl3pPr>
              <a:defRPr sz="1125" b="0">
                <a:solidFill>
                  <a:srgbClr val="B6B8AA"/>
                </a:solidFill>
                <a:latin typeface="Arial"/>
                <a:ea typeface="Arial"/>
                <a:cs typeface="Arial"/>
              </a:defRPr>
            </a:lvl3pPr>
            <a:lvl4pPr>
              <a:defRPr sz="1125" b="0">
                <a:solidFill>
                  <a:srgbClr val="B6B8AA"/>
                </a:solidFill>
                <a:latin typeface="Arial"/>
                <a:ea typeface="Arial"/>
                <a:cs typeface="Arial"/>
              </a:defRPr>
            </a:lvl4pPr>
            <a:lvl5pPr>
              <a:defRPr sz="1125" b="0">
                <a:solidFill>
                  <a:srgbClr val="B6B8AA"/>
                </a:solidFill>
                <a:latin typeface="Arial"/>
                <a:ea typeface="Arial"/>
                <a:cs typeface="Arial"/>
              </a:defRPr>
            </a:lvl5pPr>
            <a:lvl6pPr>
              <a:defRPr sz="1125" b="0">
                <a:solidFill>
                  <a:srgbClr val="B6B8AA"/>
                </a:solidFill>
                <a:latin typeface="Arial"/>
                <a:ea typeface="Arial"/>
                <a:cs typeface="Arial"/>
              </a:defRPr>
            </a:lvl6pPr>
            <a:lvl7pPr>
              <a:defRPr sz="1125" b="0">
                <a:solidFill>
                  <a:srgbClr val="B6B8AA"/>
                </a:solidFill>
                <a:latin typeface="Arial"/>
                <a:ea typeface="Arial"/>
                <a:cs typeface="Arial"/>
              </a:defRPr>
            </a:lvl7pPr>
            <a:lvl8pPr>
              <a:defRPr sz="1125" b="0">
                <a:solidFill>
                  <a:srgbClr val="B6B8AA"/>
                </a:solidFill>
                <a:latin typeface="Arial"/>
                <a:ea typeface="Arial"/>
                <a:cs typeface="Arial"/>
              </a:defRPr>
            </a:lvl8pPr>
            <a:lvl9pPr>
              <a:defRPr sz="1125" b="0">
                <a:solidFill>
                  <a:srgbClr val="B6B8AA"/>
                </a:solidFill>
                <a:latin typeface="Arial"/>
                <a:ea typeface="Arial"/>
                <a:cs typeface="Arial"/>
              </a:defRPr>
            </a:lvl9pPr>
          </a:lstStyle>
          <a:p xmlns:a="http://schemas.openxmlformats.org/drawingml/2006/main">
            <a:pPr>
              <a:defRPr sz="1125" b="0">
                <a:solidFill>
                  <a:srgbClr val="B6B8AA"/>
                </a:solidFill>
                <a:latin typeface="Arial"/>
                <a:ea typeface="Arial"/>
                <a:cs typeface="Arial"/>
              </a:defRPr>
            </a:pPr>
            <a:r>
              <a:rPr sz="1125" b="0">
                <a:solidFill>
                  <a:srgbClr val="B6B8AA"/>
                </a:solidFill>
                <a:latin typeface="Arial"/>
                <a:ea typeface="Arial"/>
                <a:cs typeface="Arial"/>
              </a:rPr>
              <a:t>Built by ElseMade   /   Mezo Buildathon   /   Public testnet</a:t>
            </a:r>
          </a:p>
        </p:txBody>
      </p:sp>
    </p:spTree>
    <p:extLst>
      <p:ext uri="{BB962C8B-B14F-4D97-AF65-F5344CB8AC3E}">
        <p14:creationId xmlns:p14="http://schemas.microsoft.com/office/powerpoint/2010/main" val="861324380"/>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D0B4DD-3D4E-4F4B-8753-4AE8879FF4C4}"/>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7C10B2-C92B-4A69-AB45-D3C56A6AD6AA}"/>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94490832-AE6F-40D0-AE28-72819FCB8C20}"/>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28AE84A-3B0B-422D-A36E-58A150CAF588}"/>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Business expenses arrive before receipts</a:t>
            </a:r>
          </a:p>
        </p:txBody>
      </p:sp>
      <p:sp>
        <p:nvSpPr>
          <p:cNvPr id="5" name="">
            <a:extLst xmlns:a="http://schemas.openxmlformats.org/drawingml/2006/main">
              <a:ext uri="{FF2B5EF4-FFF2-40B4-BE49-F238E27FC236}">
                <a16:creationId xmlns:a16="http://schemas.microsoft.com/office/drawing/2014/main" id="{922D1436-6AA9-40C7-8485-4B6B74030893}"/>
              </a:ext>
            </a:extLst>
          </p:cNvPr>
          <p:cNvSpPr>
            <a:spLocks xmlns:a="http://schemas.openxmlformats.org/drawingml/2006/main" noGrp="1"/>
          </p:cNvSpPr>
          <p:nvPr/>
        </p:nvSpPr>
        <p:spPr>
          <a:xfrm xmlns:a="http://schemas.openxmlformats.org/drawingml/2006/main">
            <a:off x="609600" y="2114550"/>
            <a:ext cx="600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24251F"/>
                </a:solidFill>
                <a:latin typeface="Georgia"/>
                <a:ea typeface="Georgia"/>
                <a:cs typeface="Georgia"/>
              </a:defRPr>
            </a:defPPr>
            <a:lvl1pPr>
              <a:defRPr sz="2550" b="0">
                <a:solidFill>
                  <a:srgbClr val="24251F"/>
                </a:solidFill>
                <a:latin typeface="Georgia"/>
                <a:ea typeface="Georgia"/>
                <a:cs typeface="Georgia"/>
              </a:defRPr>
            </a:lvl1pPr>
            <a:lvl2pPr>
              <a:defRPr sz="2550" b="0">
                <a:solidFill>
                  <a:srgbClr val="24251F"/>
                </a:solidFill>
                <a:latin typeface="Georgia"/>
                <a:ea typeface="Georgia"/>
                <a:cs typeface="Georgia"/>
              </a:defRPr>
            </a:lvl2pPr>
            <a:lvl3pPr>
              <a:defRPr sz="2550" b="0">
                <a:solidFill>
                  <a:srgbClr val="24251F"/>
                </a:solidFill>
                <a:latin typeface="Georgia"/>
                <a:ea typeface="Georgia"/>
                <a:cs typeface="Georgia"/>
              </a:defRPr>
            </a:lvl3pPr>
            <a:lvl4pPr>
              <a:defRPr sz="2550" b="0">
                <a:solidFill>
                  <a:srgbClr val="24251F"/>
                </a:solidFill>
                <a:latin typeface="Georgia"/>
                <a:ea typeface="Georgia"/>
                <a:cs typeface="Georgia"/>
              </a:defRPr>
            </a:lvl4pPr>
            <a:lvl5pPr>
              <a:defRPr sz="2550" b="0">
                <a:solidFill>
                  <a:srgbClr val="24251F"/>
                </a:solidFill>
                <a:latin typeface="Georgia"/>
                <a:ea typeface="Georgia"/>
                <a:cs typeface="Georgia"/>
              </a:defRPr>
            </a:lvl5pPr>
            <a:lvl6pPr>
              <a:defRPr sz="2550" b="0">
                <a:solidFill>
                  <a:srgbClr val="24251F"/>
                </a:solidFill>
                <a:latin typeface="Georgia"/>
                <a:ea typeface="Georgia"/>
                <a:cs typeface="Georgia"/>
              </a:defRPr>
            </a:lvl6pPr>
            <a:lvl7pPr>
              <a:defRPr sz="2550" b="0">
                <a:solidFill>
                  <a:srgbClr val="24251F"/>
                </a:solidFill>
                <a:latin typeface="Georgia"/>
                <a:ea typeface="Georgia"/>
                <a:cs typeface="Georgia"/>
              </a:defRPr>
            </a:lvl7pPr>
            <a:lvl8pPr>
              <a:defRPr sz="2550" b="0">
                <a:solidFill>
                  <a:srgbClr val="24251F"/>
                </a:solidFill>
                <a:latin typeface="Georgia"/>
                <a:ea typeface="Georgia"/>
                <a:cs typeface="Georgia"/>
              </a:defRPr>
            </a:lvl8pPr>
            <a:lvl9pPr>
              <a:defRPr sz="2550" b="0">
                <a:solidFill>
                  <a:srgbClr val="24251F"/>
                </a:solidFill>
                <a:latin typeface="Georgia"/>
                <a:ea typeface="Georgia"/>
                <a:cs typeface="Georgia"/>
              </a:defRPr>
            </a:lvl9pPr>
          </a:lstStyle>
          <a:p xmlns:a="http://schemas.openxmlformats.org/drawingml/2006/main">
            <a:pPr>
              <a:defRPr sz="2550" b="0">
                <a:solidFill>
                  <a:srgbClr val="24251F"/>
                </a:solidFill>
                <a:latin typeface="Georgia"/>
                <a:ea typeface="Georgia"/>
                <a:cs typeface="Georgia"/>
              </a:defRPr>
            </a:pPr>
            <a:r>
              <a:rPr sz="2550" b="0">
                <a:solidFill>
                  <a:srgbClr val="24251F"/>
                </a:solidFill>
                <a:latin typeface="Georgia"/>
                <a:ea typeface="Georgia"/>
                <a:cs typeface="Georgia"/>
              </a:rPr>
              <a:t>For an independent agency or seller</a:t>
            </a:r>
          </a:p>
          <a:p xmlns:a="http://schemas.openxmlformats.org/drawingml/2006/main">
            <a:pPr>
              <a:defRPr sz="2550" b="0">
                <a:solidFill>
                  <a:srgbClr val="24251F"/>
                </a:solidFill>
                <a:latin typeface="Georgia"/>
                <a:ea typeface="Georgia"/>
                <a:cs typeface="Georgia"/>
              </a:defRPr>
            </a:pPr>
            <a:r>
              <a:rPr sz="2550" b="0">
                <a:solidFill>
                  <a:srgbClr val="24251F"/>
                </a:solidFill>
                <a:latin typeface="Georgia"/>
                <a:ea typeface="Georgia"/>
                <a:cs typeface="Georgia"/>
              </a:rPr>
              <a:t>that holds BTC and collects MUSD</a:t>
            </a:r>
          </a:p>
        </p:txBody>
      </p:sp>
      <p:sp>
        <p:nvSpPr>
          <p:cNvPr id="6" name="">
            <a:extLst xmlns:a="http://schemas.openxmlformats.org/drawingml/2006/main">
              <a:ext uri="{FF2B5EF4-FFF2-40B4-BE49-F238E27FC236}">
                <a16:creationId xmlns:a16="http://schemas.microsoft.com/office/drawing/2014/main" id="{B8124EAA-256B-4451-88F7-49BFC4BC6738}"/>
              </a:ext>
            </a:extLst>
          </p:cNvPr>
          <p:cNvSpPr>
            <a:spLocks xmlns:a="http://schemas.openxmlformats.org/drawingml/2006/main" noGrp="1"/>
          </p:cNvSpPr>
          <p:nvPr/>
        </p:nvSpPr>
        <p:spPr>
          <a:xfrm xmlns:a="http://schemas.openxmlformats.org/drawingml/2006/main">
            <a:off x="609600" y="3486150"/>
            <a:ext cx="5810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Operating expenses come due while customer payments are still outstanding. Borrowing can supply cash, but the business still has to decide when to repay.</a:t>
            </a:r>
          </a:p>
        </p:txBody>
      </p:sp>
      <p:sp>
        <p:nvSpPr>
          <p:cNvPr id="7" name="">
            <a:extLst xmlns:a="http://schemas.openxmlformats.org/drawingml/2006/main">
              <a:ext uri="{FF2B5EF4-FFF2-40B4-BE49-F238E27FC236}">
                <a16:creationId xmlns:a16="http://schemas.microsoft.com/office/drawing/2014/main" id="{79777EA0-87FE-4265-B00C-56E80A7A490B}"/>
              </a:ext>
            </a:extLst>
          </p:cNvPr>
          <p:cNvSpPr>
            <a:spLocks xmlns:a="http://schemas.openxmlformats.org/drawingml/2006/main" noGrp="1"/>
          </p:cNvSpPr>
          <p:nvPr/>
        </p:nvSpPr>
        <p:spPr>
          <a:xfrm xmlns:a="http://schemas.openxmlformats.org/drawingml/2006/main">
            <a:off x="7543800" y="2143125"/>
            <a:ext cx="3333750" cy="381000"/>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519FBB-2EA9-4617-B37D-55AEBEC6CCB7}"/>
              </a:ext>
            </a:extLst>
          </p:cNvPr>
          <p:cNvSpPr>
            <a:spLocks xmlns:a="http://schemas.openxmlformats.org/drawingml/2006/main" noGrp="1"/>
          </p:cNvSpPr>
          <p:nvPr/>
        </p:nvSpPr>
        <p:spPr>
          <a:xfrm xmlns:a="http://schemas.openxmlformats.org/drawingml/2006/main">
            <a:off x="7858125" y="2524125"/>
            <a:ext cx="190500" cy="28098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1712E6-FB10-491F-AFB2-DB32047570A8}"/>
              </a:ext>
            </a:extLst>
          </p:cNvPr>
          <p:cNvSpPr>
            <a:spLocks xmlns:a="http://schemas.openxmlformats.org/drawingml/2006/main" noGrp="1"/>
          </p:cNvSpPr>
          <p:nvPr/>
        </p:nvSpPr>
        <p:spPr>
          <a:xfrm xmlns:a="http://schemas.openxmlformats.org/drawingml/2006/main">
            <a:off x="8810625" y="2857500"/>
            <a:ext cx="2066925" cy="2286000"/>
          </a:xfrm>
          <a:prstGeom xmlns:a="http://schemas.openxmlformats.org/drawingml/2006/main" prst="rect">
            <a:avLst/>
          </a:prstGeom>
          <a:solidFill xmlns:a="http://schemas.openxmlformats.org/drawingml/2006/main">
            <a:srgbClr val="FFFD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461C58-D876-4573-8D43-9D9DB8AACF1B}"/>
              </a:ext>
            </a:extLst>
          </p:cNvPr>
          <p:cNvSpPr>
            <a:spLocks xmlns:a="http://schemas.openxmlformats.org/drawingml/2006/main" noGrp="1"/>
          </p:cNvSpPr>
          <p:nvPr/>
        </p:nvSpPr>
        <p:spPr>
          <a:xfrm xmlns:a="http://schemas.openxmlformats.org/drawingml/2006/main">
            <a:off x="9048750" y="3238500"/>
            <a:ext cx="1524000" cy="4762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F89BBA-E9C6-4DF2-BEAC-122FAEEA3975}"/>
              </a:ext>
            </a:extLst>
          </p:cNvPr>
          <p:cNvSpPr>
            <a:spLocks xmlns:a="http://schemas.openxmlformats.org/drawingml/2006/main" noGrp="1"/>
          </p:cNvSpPr>
          <p:nvPr/>
        </p:nvSpPr>
        <p:spPr>
          <a:xfrm xmlns:a="http://schemas.openxmlformats.org/drawingml/2006/main">
            <a:off x="9048750" y="3524250"/>
            <a:ext cx="1047750" cy="38100"/>
          </a:xfrm>
          <a:prstGeom xmlns:a="http://schemas.openxmlformats.org/drawingml/2006/main" prst="rect">
            <a:avLst/>
          </a:prstGeom>
          <a:solidFill xmlns:a="http://schemas.openxmlformats.org/drawingml/2006/main">
            <a:srgbClr val="D8D4C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B0AE08-1561-4B90-942E-18A1B4D82104}"/>
              </a:ext>
            </a:extLst>
          </p:cNvPr>
          <p:cNvSpPr>
            <a:spLocks xmlns:a="http://schemas.openxmlformats.org/drawingml/2006/main" noGrp="1"/>
          </p:cNvSpPr>
          <p:nvPr/>
        </p:nvSpPr>
        <p:spPr>
          <a:xfrm xmlns:a="http://schemas.openxmlformats.org/drawingml/2006/main">
            <a:off x="9048750" y="3781425"/>
            <a:ext cx="1524000" cy="38100"/>
          </a:xfrm>
          <a:prstGeom xmlns:a="http://schemas.openxmlformats.org/drawingml/2006/main" prst="rect">
            <a:avLst/>
          </a:prstGeom>
          <a:solidFill xmlns:a="http://schemas.openxmlformats.org/drawingml/2006/main">
            <a:srgbClr val="D8D4C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A294B0-74AC-4B34-8042-8F7CE46D613B}"/>
              </a:ext>
            </a:extLst>
          </p:cNvPr>
          <p:cNvSpPr>
            <a:spLocks xmlns:a="http://schemas.openxmlformats.org/drawingml/2006/main" noGrp="1"/>
          </p:cNvSpPr>
          <p:nvPr/>
        </p:nvSpPr>
        <p:spPr>
          <a:xfrm xmlns:a="http://schemas.openxmlformats.org/drawingml/2006/main">
            <a:off x="8286750" y="4410075"/>
            <a:ext cx="252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24251F"/>
                </a:solidFill>
                <a:latin typeface="Georgia"/>
                <a:ea typeface="Georgia"/>
                <a:cs typeface="Georgia"/>
              </a:defRPr>
            </a:defPPr>
            <a:lvl1pPr>
              <a:defRPr sz="2625" b="0">
                <a:solidFill>
                  <a:srgbClr val="24251F"/>
                </a:solidFill>
                <a:latin typeface="Georgia"/>
                <a:ea typeface="Georgia"/>
                <a:cs typeface="Georgia"/>
              </a:defRPr>
            </a:lvl1pPr>
            <a:lvl2pPr>
              <a:defRPr sz="2625" b="0">
                <a:solidFill>
                  <a:srgbClr val="24251F"/>
                </a:solidFill>
                <a:latin typeface="Georgia"/>
                <a:ea typeface="Georgia"/>
                <a:cs typeface="Georgia"/>
              </a:defRPr>
            </a:lvl2pPr>
            <a:lvl3pPr>
              <a:defRPr sz="2625" b="0">
                <a:solidFill>
                  <a:srgbClr val="24251F"/>
                </a:solidFill>
                <a:latin typeface="Georgia"/>
                <a:ea typeface="Georgia"/>
                <a:cs typeface="Georgia"/>
              </a:defRPr>
            </a:lvl3pPr>
            <a:lvl4pPr>
              <a:defRPr sz="2625" b="0">
                <a:solidFill>
                  <a:srgbClr val="24251F"/>
                </a:solidFill>
                <a:latin typeface="Georgia"/>
                <a:ea typeface="Georgia"/>
                <a:cs typeface="Georgia"/>
              </a:defRPr>
            </a:lvl4pPr>
            <a:lvl5pPr>
              <a:defRPr sz="2625" b="0">
                <a:solidFill>
                  <a:srgbClr val="24251F"/>
                </a:solidFill>
                <a:latin typeface="Georgia"/>
                <a:ea typeface="Georgia"/>
                <a:cs typeface="Georgia"/>
              </a:defRPr>
            </a:lvl5pPr>
            <a:lvl6pPr>
              <a:defRPr sz="2625" b="0">
                <a:solidFill>
                  <a:srgbClr val="24251F"/>
                </a:solidFill>
                <a:latin typeface="Georgia"/>
                <a:ea typeface="Georgia"/>
                <a:cs typeface="Georgia"/>
              </a:defRPr>
            </a:lvl6pPr>
            <a:lvl7pPr>
              <a:defRPr sz="2625" b="0">
                <a:solidFill>
                  <a:srgbClr val="24251F"/>
                </a:solidFill>
                <a:latin typeface="Georgia"/>
                <a:ea typeface="Georgia"/>
                <a:cs typeface="Georgia"/>
              </a:defRPr>
            </a:lvl7pPr>
            <a:lvl8pPr>
              <a:defRPr sz="2625" b="0">
                <a:solidFill>
                  <a:srgbClr val="24251F"/>
                </a:solidFill>
                <a:latin typeface="Georgia"/>
                <a:ea typeface="Georgia"/>
                <a:cs typeface="Georgia"/>
              </a:defRPr>
            </a:lvl8pPr>
            <a:lvl9pPr>
              <a:defRPr sz="2625" b="0">
                <a:solidFill>
                  <a:srgbClr val="24251F"/>
                </a:solidFill>
                <a:latin typeface="Georgia"/>
                <a:ea typeface="Georgia"/>
                <a:cs typeface="Georgia"/>
              </a:defRPr>
            </a:lvl9pPr>
          </a:lstStyle>
          <a:p xmlns:a="http://schemas.openxmlformats.org/drawingml/2006/main">
            <a:pPr>
              <a:defRPr sz="2625" b="0">
                <a:solidFill>
                  <a:srgbClr val="24251F"/>
                </a:solidFill>
                <a:latin typeface="Georgia"/>
                <a:ea typeface="Georgia"/>
                <a:cs typeface="Georgia"/>
              </a:defRPr>
            </a:pPr>
            <a:r>
              <a:rPr sz="2625" b="0">
                <a:solidFill>
                  <a:srgbClr val="24251F"/>
                </a:solidFill>
                <a:latin typeface="Georgia"/>
                <a:ea typeface="Georgia"/>
                <a:cs typeface="Georgia"/>
              </a:rPr>
              <a:t>Expenses</a:t>
            </a:r>
          </a:p>
          <a:p xmlns:a="http://schemas.openxmlformats.org/drawingml/2006/main">
            <a:pPr>
              <a:defRPr sz="2625" b="0">
                <a:solidFill>
                  <a:srgbClr val="24251F"/>
                </a:solidFill>
                <a:latin typeface="Georgia"/>
                <a:ea typeface="Georgia"/>
                <a:cs typeface="Georgia"/>
              </a:defRPr>
            </a:pPr>
            <a:r>
              <a:rPr sz="2625" b="0">
                <a:solidFill>
                  <a:srgbClr val="24251F"/>
                </a:solidFill>
                <a:latin typeface="Georgia"/>
                <a:ea typeface="Georgia"/>
                <a:cs typeface="Georgia"/>
              </a:rPr>
              <a:t>today</a:t>
            </a:r>
          </a:p>
        </p:txBody>
      </p:sp>
      <p:sp>
        <p:nvSpPr>
          <p:cNvPr id="14" name="">
            <a:extLst xmlns:a="http://schemas.openxmlformats.org/drawingml/2006/main">
              <a:ext uri="{FF2B5EF4-FFF2-40B4-BE49-F238E27FC236}">
                <a16:creationId xmlns:a16="http://schemas.microsoft.com/office/drawing/2014/main" id="{2B94DBB7-A2C7-4D5C-9454-7750F1DA1A73}"/>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Target audience and demand remain hypotheses to validate with pilots</a:t>
            </a:r>
          </a:p>
        </p:txBody>
      </p:sp>
    </p:spTree>
    <p:extLst>
      <p:ext uri="{BB962C8B-B14F-4D97-AF65-F5344CB8AC3E}">
        <p14:creationId xmlns:p14="http://schemas.microsoft.com/office/powerpoint/2010/main" val="388680382"/>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A128838-1242-4D25-98EA-094B497C71E7}"/>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9BFAC3-4065-45DE-B481-90D46956F225}"/>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079BD8B4-DDF7-486A-AF14-AE5E5A3D4BA7}"/>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85B4F92-CBE6-4FFE-AB4B-1B81F809D42A}"/>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A receipt does two jobs</a:t>
            </a:r>
          </a:p>
        </p:txBody>
      </p:sp>
      <p:sp>
        <p:nvSpPr>
          <p:cNvPr id="5" name="">
            <a:extLst xmlns:a="http://schemas.openxmlformats.org/drawingml/2006/main">
              <a:ext uri="{FF2B5EF4-FFF2-40B4-BE49-F238E27FC236}">
                <a16:creationId xmlns:a16="http://schemas.microsoft.com/office/drawing/2014/main" id="{DBA63DBB-0F10-4DA9-8DB0-9490E2F05FD6}"/>
              </a:ext>
            </a:extLst>
          </p:cNvPr>
          <p:cNvSpPr>
            <a:spLocks xmlns:a="http://schemas.openxmlformats.org/drawingml/2006/main" noGrp="1"/>
          </p:cNvSpPr>
          <p:nvPr/>
        </p:nvSpPr>
        <p:spPr>
          <a:xfrm xmlns:a="http://schemas.openxmlformats.org/drawingml/2006/main">
            <a:off x="609600" y="2057400"/>
            <a:ext cx="571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0">
                <a:solidFill>
                  <a:srgbClr val="24251F"/>
                </a:solidFill>
                <a:latin typeface="Georgia"/>
                <a:ea typeface="Georgia"/>
                <a:cs typeface="Georgia"/>
              </a:defRPr>
            </a:defPPr>
            <a:lvl1pPr>
              <a:defRPr sz="5850" b="0">
                <a:solidFill>
                  <a:srgbClr val="24251F"/>
                </a:solidFill>
                <a:latin typeface="Georgia"/>
                <a:ea typeface="Georgia"/>
                <a:cs typeface="Georgia"/>
              </a:defRPr>
            </a:lvl1pPr>
            <a:lvl2pPr>
              <a:defRPr sz="5850" b="0">
                <a:solidFill>
                  <a:srgbClr val="24251F"/>
                </a:solidFill>
                <a:latin typeface="Georgia"/>
                <a:ea typeface="Georgia"/>
                <a:cs typeface="Georgia"/>
              </a:defRPr>
            </a:lvl2pPr>
            <a:lvl3pPr>
              <a:defRPr sz="5850" b="0">
                <a:solidFill>
                  <a:srgbClr val="24251F"/>
                </a:solidFill>
                <a:latin typeface="Georgia"/>
                <a:ea typeface="Georgia"/>
                <a:cs typeface="Georgia"/>
              </a:defRPr>
            </a:lvl3pPr>
            <a:lvl4pPr>
              <a:defRPr sz="5850" b="0">
                <a:solidFill>
                  <a:srgbClr val="24251F"/>
                </a:solidFill>
                <a:latin typeface="Georgia"/>
                <a:ea typeface="Georgia"/>
                <a:cs typeface="Georgia"/>
              </a:defRPr>
            </a:lvl4pPr>
            <a:lvl5pPr>
              <a:defRPr sz="5850" b="0">
                <a:solidFill>
                  <a:srgbClr val="24251F"/>
                </a:solidFill>
                <a:latin typeface="Georgia"/>
                <a:ea typeface="Georgia"/>
                <a:cs typeface="Georgia"/>
              </a:defRPr>
            </a:lvl5pPr>
            <a:lvl6pPr>
              <a:defRPr sz="5850" b="0">
                <a:solidFill>
                  <a:srgbClr val="24251F"/>
                </a:solidFill>
                <a:latin typeface="Georgia"/>
                <a:ea typeface="Georgia"/>
                <a:cs typeface="Georgia"/>
              </a:defRPr>
            </a:lvl6pPr>
            <a:lvl7pPr>
              <a:defRPr sz="5850" b="0">
                <a:solidFill>
                  <a:srgbClr val="24251F"/>
                </a:solidFill>
                <a:latin typeface="Georgia"/>
                <a:ea typeface="Georgia"/>
                <a:cs typeface="Georgia"/>
              </a:defRPr>
            </a:lvl7pPr>
            <a:lvl8pPr>
              <a:defRPr sz="5850" b="0">
                <a:solidFill>
                  <a:srgbClr val="24251F"/>
                </a:solidFill>
                <a:latin typeface="Georgia"/>
                <a:ea typeface="Georgia"/>
                <a:cs typeface="Georgia"/>
              </a:defRPr>
            </a:lvl8pPr>
            <a:lvl9pPr>
              <a:defRPr sz="5850" b="0">
                <a:solidFill>
                  <a:srgbClr val="24251F"/>
                </a:solidFill>
                <a:latin typeface="Georgia"/>
                <a:ea typeface="Georgia"/>
                <a:cs typeface="Georgia"/>
              </a:defRPr>
            </a:lvl9pPr>
          </a:lstStyle>
          <a:p xmlns:a="http://schemas.openxmlformats.org/drawingml/2006/main">
            <a:pPr>
              <a:defRPr sz="5850" b="0">
                <a:solidFill>
                  <a:srgbClr val="24251F"/>
                </a:solidFill>
                <a:latin typeface="Georgia"/>
                <a:ea typeface="Georgia"/>
                <a:cs typeface="Georgia"/>
              </a:defRPr>
            </a:pPr>
            <a:r>
              <a:rPr sz="5850" b="0">
                <a:solidFill>
                  <a:srgbClr val="24251F"/>
                </a:solidFill>
                <a:latin typeface="Georgia"/>
                <a:ea typeface="Georgia"/>
                <a:cs typeface="Georgia"/>
              </a:rPr>
              <a:t>500 MUSD</a:t>
            </a:r>
          </a:p>
        </p:txBody>
      </p:sp>
      <p:sp>
        <p:nvSpPr>
          <p:cNvPr id="6" name="">
            <a:extLst xmlns:a="http://schemas.openxmlformats.org/drawingml/2006/main">
              <a:ext uri="{FF2B5EF4-FFF2-40B4-BE49-F238E27FC236}">
                <a16:creationId xmlns:a16="http://schemas.microsoft.com/office/drawing/2014/main" id="{1D1FA2F0-301B-42E9-A476-CE1A49C2A735}"/>
              </a:ext>
            </a:extLst>
          </p:cNvPr>
          <p:cNvSpPr>
            <a:spLocks xmlns:a="http://schemas.openxmlformats.org/drawingml/2006/main" noGrp="1"/>
          </p:cNvSpPr>
          <p:nvPr/>
        </p:nvSpPr>
        <p:spPr>
          <a:xfrm xmlns:a="http://schemas.openxmlformats.org/drawingml/2006/main">
            <a:off x="647700" y="30099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77796C"/>
                </a:solidFill>
                <a:latin typeface="Arial"/>
                <a:ea typeface="Arial"/>
                <a:cs typeface="Arial"/>
              </a:defRPr>
            </a:defPPr>
            <a:lvl1pPr>
              <a:defRPr sz="1800" b="0">
                <a:solidFill>
                  <a:srgbClr val="77796C"/>
                </a:solidFill>
                <a:latin typeface="Arial"/>
                <a:ea typeface="Arial"/>
                <a:cs typeface="Arial"/>
              </a:defRPr>
            </a:lvl1pPr>
            <a:lvl2pPr>
              <a:defRPr sz="1800" b="0">
                <a:solidFill>
                  <a:srgbClr val="77796C"/>
                </a:solidFill>
                <a:latin typeface="Arial"/>
                <a:ea typeface="Arial"/>
                <a:cs typeface="Arial"/>
              </a:defRPr>
            </a:lvl2pPr>
            <a:lvl3pPr>
              <a:defRPr sz="1800" b="0">
                <a:solidFill>
                  <a:srgbClr val="77796C"/>
                </a:solidFill>
                <a:latin typeface="Arial"/>
                <a:ea typeface="Arial"/>
                <a:cs typeface="Arial"/>
              </a:defRPr>
            </a:lvl3pPr>
            <a:lvl4pPr>
              <a:defRPr sz="1800" b="0">
                <a:solidFill>
                  <a:srgbClr val="77796C"/>
                </a:solidFill>
                <a:latin typeface="Arial"/>
                <a:ea typeface="Arial"/>
                <a:cs typeface="Arial"/>
              </a:defRPr>
            </a:lvl4pPr>
            <a:lvl5pPr>
              <a:defRPr sz="1800" b="0">
                <a:solidFill>
                  <a:srgbClr val="77796C"/>
                </a:solidFill>
                <a:latin typeface="Arial"/>
                <a:ea typeface="Arial"/>
                <a:cs typeface="Arial"/>
              </a:defRPr>
            </a:lvl5pPr>
            <a:lvl6pPr>
              <a:defRPr sz="1800" b="0">
                <a:solidFill>
                  <a:srgbClr val="77796C"/>
                </a:solidFill>
                <a:latin typeface="Arial"/>
                <a:ea typeface="Arial"/>
                <a:cs typeface="Arial"/>
              </a:defRPr>
            </a:lvl6pPr>
            <a:lvl7pPr>
              <a:defRPr sz="1800" b="0">
                <a:solidFill>
                  <a:srgbClr val="77796C"/>
                </a:solidFill>
                <a:latin typeface="Arial"/>
                <a:ea typeface="Arial"/>
                <a:cs typeface="Arial"/>
              </a:defRPr>
            </a:lvl7pPr>
            <a:lvl8pPr>
              <a:defRPr sz="1800" b="0">
                <a:solidFill>
                  <a:srgbClr val="77796C"/>
                </a:solidFill>
                <a:latin typeface="Arial"/>
                <a:ea typeface="Arial"/>
                <a:cs typeface="Arial"/>
              </a:defRPr>
            </a:lvl8pPr>
            <a:lvl9pPr>
              <a:defRPr sz="1800" b="0">
                <a:solidFill>
                  <a:srgbClr val="77796C"/>
                </a:solidFill>
                <a:latin typeface="Arial"/>
                <a:ea typeface="Arial"/>
                <a:cs typeface="Arial"/>
              </a:defRPr>
            </a:lvl9pPr>
          </a:lstStyle>
          <a:p xmlns:a="http://schemas.openxmlformats.org/drawingml/2006/main">
            <a:pPr>
              <a:defRPr sz="1800" b="0">
                <a:solidFill>
                  <a:srgbClr val="77796C"/>
                </a:solidFill>
                <a:latin typeface="Arial"/>
                <a:ea typeface="Arial"/>
                <a:cs typeface="Arial"/>
              </a:defRPr>
            </a:pPr>
            <a:r>
              <a:rPr sz="1800" b="0">
                <a:solidFill>
                  <a:srgbClr val="77796C"/>
                </a:solidFill>
                <a:latin typeface="Arial"/>
                <a:ea typeface="Arial"/>
                <a:cs typeface="Arial"/>
              </a:rPr>
              <a:t>Final customer payment</a:t>
            </a:r>
          </a:p>
        </p:txBody>
      </p:sp>
      <p:sp>
        <p:nvSpPr>
          <p:cNvPr id="7" name="">
            <a:extLst xmlns:a="http://schemas.openxmlformats.org/drawingml/2006/main">
              <a:ext uri="{FF2B5EF4-FFF2-40B4-BE49-F238E27FC236}">
                <a16:creationId xmlns:a16="http://schemas.microsoft.com/office/drawing/2014/main" id="{5142303E-F1A9-4CC9-B085-3510450EBD64}"/>
              </a:ext>
            </a:extLst>
          </p:cNvPr>
          <p:cNvSpPr>
            <a:spLocks xmlns:a="http://schemas.openxmlformats.org/drawingml/2006/main" noGrp="1"/>
          </p:cNvSpPr>
          <p:nvPr/>
        </p:nvSpPr>
        <p:spPr>
          <a:xfrm xmlns:a="http://schemas.openxmlformats.org/drawingml/2006/main">
            <a:off x="609600" y="3829050"/>
            <a:ext cx="8477250" cy="1104900"/>
          </a:xfrm>
          <a:prstGeom xmlns:a="http://schemas.openxmlformats.org/drawingml/2006/main" prst="rect">
            <a:avLst/>
          </a:prstGeom>
          <a:solidFill xmlns:a="http://schemas.openxmlformats.org/drawingml/2006/main">
            <a:srgbClr val="E6EAD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393646-94CD-4C7E-8526-32641982B8D6}"/>
              </a:ext>
            </a:extLst>
          </p:cNvPr>
          <p:cNvSpPr>
            <a:spLocks xmlns:a="http://schemas.openxmlformats.org/drawingml/2006/main" noGrp="1"/>
          </p:cNvSpPr>
          <p:nvPr/>
        </p:nvSpPr>
        <p:spPr>
          <a:xfrm xmlns:a="http://schemas.openxmlformats.org/drawingml/2006/main">
            <a:off x="9086850" y="3829050"/>
            <a:ext cx="2114550" cy="1104900"/>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3AE41F-F133-464D-9492-494EE5E38C4B}"/>
              </a:ext>
            </a:extLst>
          </p:cNvPr>
          <p:cNvSpPr>
            <a:spLocks xmlns:a="http://schemas.openxmlformats.org/drawingml/2006/main" noGrp="1"/>
          </p:cNvSpPr>
          <p:nvPr/>
        </p:nvSpPr>
        <p:spPr>
          <a:xfrm xmlns:a="http://schemas.openxmlformats.org/drawingml/2006/main">
            <a:off x="857250" y="3924300"/>
            <a:ext cx="666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0">
                <a:solidFill>
                  <a:srgbClr val="24251F"/>
                </a:solidFill>
                <a:latin typeface="Georgia"/>
                <a:ea typeface="Georgia"/>
                <a:cs typeface="Georgia"/>
              </a:defRPr>
            </a:defPPr>
            <a:lvl1pPr>
              <a:defRPr sz="4125" b="0">
                <a:solidFill>
                  <a:srgbClr val="24251F"/>
                </a:solidFill>
                <a:latin typeface="Georgia"/>
                <a:ea typeface="Georgia"/>
                <a:cs typeface="Georgia"/>
              </a:defRPr>
            </a:lvl1pPr>
            <a:lvl2pPr>
              <a:defRPr sz="4125" b="0">
                <a:solidFill>
                  <a:srgbClr val="24251F"/>
                </a:solidFill>
                <a:latin typeface="Georgia"/>
                <a:ea typeface="Georgia"/>
                <a:cs typeface="Georgia"/>
              </a:defRPr>
            </a:lvl2pPr>
            <a:lvl3pPr>
              <a:defRPr sz="4125" b="0">
                <a:solidFill>
                  <a:srgbClr val="24251F"/>
                </a:solidFill>
                <a:latin typeface="Georgia"/>
                <a:ea typeface="Georgia"/>
                <a:cs typeface="Georgia"/>
              </a:defRPr>
            </a:lvl3pPr>
            <a:lvl4pPr>
              <a:defRPr sz="4125" b="0">
                <a:solidFill>
                  <a:srgbClr val="24251F"/>
                </a:solidFill>
                <a:latin typeface="Georgia"/>
                <a:ea typeface="Georgia"/>
                <a:cs typeface="Georgia"/>
              </a:defRPr>
            </a:lvl4pPr>
            <a:lvl5pPr>
              <a:defRPr sz="4125" b="0">
                <a:solidFill>
                  <a:srgbClr val="24251F"/>
                </a:solidFill>
                <a:latin typeface="Georgia"/>
                <a:ea typeface="Georgia"/>
                <a:cs typeface="Georgia"/>
              </a:defRPr>
            </a:lvl5pPr>
            <a:lvl6pPr>
              <a:defRPr sz="4125" b="0">
                <a:solidFill>
                  <a:srgbClr val="24251F"/>
                </a:solidFill>
                <a:latin typeface="Georgia"/>
                <a:ea typeface="Georgia"/>
                <a:cs typeface="Georgia"/>
              </a:defRPr>
            </a:lvl6pPr>
            <a:lvl7pPr>
              <a:defRPr sz="4125" b="0">
                <a:solidFill>
                  <a:srgbClr val="24251F"/>
                </a:solidFill>
                <a:latin typeface="Georgia"/>
                <a:ea typeface="Georgia"/>
                <a:cs typeface="Georgia"/>
              </a:defRPr>
            </a:lvl7pPr>
            <a:lvl8pPr>
              <a:defRPr sz="4125" b="0">
                <a:solidFill>
                  <a:srgbClr val="24251F"/>
                </a:solidFill>
                <a:latin typeface="Georgia"/>
                <a:ea typeface="Georgia"/>
                <a:cs typeface="Georgia"/>
              </a:defRPr>
            </a:lvl8pPr>
            <a:lvl9pPr>
              <a:defRPr sz="4125" b="0">
                <a:solidFill>
                  <a:srgbClr val="24251F"/>
                </a:solidFill>
                <a:latin typeface="Georgia"/>
                <a:ea typeface="Georgia"/>
                <a:cs typeface="Georgia"/>
              </a:defRPr>
            </a:lvl9pPr>
          </a:lstStyle>
          <a:p xmlns:a="http://schemas.openxmlformats.org/drawingml/2006/main">
            <a:pPr>
              <a:defRPr sz="4125" b="0">
                <a:solidFill>
                  <a:srgbClr val="24251F"/>
                </a:solidFill>
                <a:latin typeface="Georgia"/>
                <a:ea typeface="Georgia"/>
                <a:cs typeface="Georgia"/>
              </a:defRPr>
            </a:pPr>
            <a:r>
              <a:rPr sz="4125" b="0">
                <a:solidFill>
                  <a:srgbClr val="24251F"/>
                </a:solidFill>
                <a:latin typeface="Georgia"/>
                <a:ea typeface="Georgia"/>
                <a:cs typeface="Georgia"/>
              </a:rPr>
              <a:t>400</a:t>
            </a:r>
          </a:p>
        </p:txBody>
      </p:sp>
      <p:sp>
        <p:nvSpPr>
          <p:cNvPr id="10" name="">
            <a:extLst xmlns:a="http://schemas.openxmlformats.org/drawingml/2006/main">
              <a:ext uri="{FF2B5EF4-FFF2-40B4-BE49-F238E27FC236}">
                <a16:creationId xmlns:a16="http://schemas.microsoft.com/office/drawing/2014/main" id="{6AA2716A-A348-458B-8DE0-3B5A826FDEF2}"/>
              </a:ext>
            </a:extLst>
          </p:cNvPr>
          <p:cNvSpPr>
            <a:spLocks xmlns:a="http://schemas.openxmlformats.org/drawingml/2006/main" noGrp="1"/>
          </p:cNvSpPr>
          <p:nvPr/>
        </p:nvSpPr>
        <p:spPr>
          <a:xfrm xmlns:a="http://schemas.openxmlformats.org/drawingml/2006/main">
            <a:off x="9296400" y="3924300"/>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0">
                <a:solidFill>
                  <a:srgbClr val="F6F2E9"/>
                </a:solidFill>
                <a:latin typeface="Georgia"/>
                <a:ea typeface="Georgia"/>
                <a:cs typeface="Georgia"/>
              </a:defRPr>
            </a:defPPr>
            <a:lvl1pPr>
              <a:defRPr sz="4125" b="0">
                <a:solidFill>
                  <a:srgbClr val="F6F2E9"/>
                </a:solidFill>
                <a:latin typeface="Georgia"/>
                <a:ea typeface="Georgia"/>
                <a:cs typeface="Georgia"/>
              </a:defRPr>
            </a:lvl1pPr>
            <a:lvl2pPr>
              <a:defRPr sz="4125" b="0">
                <a:solidFill>
                  <a:srgbClr val="F6F2E9"/>
                </a:solidFill>
                <a:latin typeface="Georgia"/>
                <a:ea typeface="Georgia"/>
                <a:cs typeface="Georgia"/>
              </a:defRPr>
            </a:lvl2pPr>
            <a:lvl3pPr>
              <a:defRPr sz="4125" b="0">
                <a:solidFill>
                  <a:srgbClr val="F6F2E9"/>
                </a:solidFill>
                <a:latin typeface="Georgia"/>
                <a:ea typeface="Georgia"/>
                <a:cs typeface="Georgia"/>
              </a:defRPr>
            </a:lvl3pPr>
            <a:lvl4pPr>
              <a:defRPr sz="4125" b="0">
                <a:solidFill>
                  <a:srgbClr val="F6F2E9"/>
                </a:solidFill>
                <a:latin typeface="Georgia"/>
                <a:ea typeface="Georgia"/>
                <a:cs typeface="Georgia"/>
              </a:defRPr>
            </a:lvl4pPr>
            <a:lvl5pPr>
              <a:defRPr sz="4125" b="0">
                <a:solidFill>
                  <a:srgbClr val="F6F2E9"/>
                </a:solidFill>
                <a:latin typeface="Georgia"/>
                <a:ea typeface="Georgia"/>
                <a:cs typeface="Georgia"/>
              </a:defRPr>
            </a:lvl5pPr>
            <a:lvl6pPr>
              <a:defRPr sz="4125" b="0">
                <a:solidFill>
                  <a:srgbClr val="F6F2E9"/>
                </a:solidFill>
                <a:latin typeface="Georgia"/>
                <a:ea typeface="Georgia"/>
                <a:cs typeface="Georgia"/>
              </a:defRPr>
            </a:lvl6pPr>
            <a:lvl7pPr>
              <a:defRPr sz="4125" b="0">
                <a:solidFill>
                  <a:srgbClr val="F6F2E9"/>
                </a:solidFill>
                <a:latin typeface="Georgia"/>
                <a:ea typeface="Georgia"/>
                <a:cs typeface="Georgia"/>
              </a:defRPr>
            </a:lvl7pPr>
            <a:lvl8pPr>
              <a:defRPr sz="4125" b="0">
                <a:solidFill>
                  <a:srgbClr val="F6F2E9"/>
                </a:solidFill>
                <a:latin typeface="Georgia"/>
                <a:ea typeface="Georgia"/>
                <a:cs typeface="Georgia"/>
              </a:defRPr>
            </a:lvl8pPr>
            <a:lvl9pPr>
              <a:defRPr sz="4125" b="0">
                <a:solidFill>
                  <a:srgbClr val="F6F2E9"/>
                </a:solidFill>
                <a:latin typeface="Georgia"/>
                <a:ea typeface="Georgia"/>
                <a:cs typeface="Georgia"/>
              </a:defRPr>
            </a:lvl9pPr>
          </a:lstStyle>
          <a:p xmlns:a="http://schemas.openxmlformats.org/drawingml/2006/main">
            <a:pPr>
              <a:defRPr sz="4125" b="0">
                <a:solidFill>
                  <a:srgbClr val="F6F2E9"/>
                </a:solidFill>
                <a:latin typeface="Georgia"/>
                <a:ea typeface="Georgia"/>
                <a:cs typeface="Georgia"/>
              </a:defRPr>
            </a:pPr>
            <a:r>
              <a:rPr sz="4125" b="0">
                <a:solidFill>
                  <a:srgbClr val="F6F2E9"/>
                </a:solidFill>
                <a:latin typeface="Georgia"/>
                <a:ea typeface="Georgia"/>
                <a:cs typeface="Georgia"/>
              </a:rPr>
              <a:t>100</a:t>
            </a:r>
          </a:p>
        </p:txBody>
      </p:sp>
      <p:sp>
        <p:nvSpPr>
          <p:cNvPr id="11" name="">
            <a:extLst xmlns:a="http://schemas.openxmlformats.org/drawingml/2006/main">
              <a:ext uri="{FF2B5EF4-FFF2-40B4-BE49-F238E27FC236}">
                <a16:creationId xmlns:a16="http://schemas.microsoft.com/office/drawing/2014/main" id="{4545C8F3-9101-4F09-8EAF-0CCACE155483}"/>
              </a:ext>
            </a:extLst>
          </p:cNvPr>
          <p:cNvSpPr>
            <a:spLocks xmlns:a="http://schemas.openxmlformats.org/drawingml/2006/main" noGrp="1"/>
          </p:cNvSpPr>
          <p:nvPr/>
        </p:nvSpPr>
        <p:spPr>
          <a:xfrm xmlns:a="http://schemas.openxmlformats.org/drawingml/2006/main">
            <a:off x="609600" y="5181600"/>
            <a:ext cx="757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251F"/>
                </a:solidFill>
                <a:latin typeface="Arial"/>
                <a:ea typeface="Arial"/>
                <a:cs typeface="Arial"/>
              </a:defRPr>
            </a:defPPr>
            <a:lvl1pPr>
              <a:defRPr sz="1800" b="0">
                <a:solidFill>
                  <a:srgbClr val="24251F"/>
                </a:solidFill>
                <a:latin typeface="Arial"/>
                <a:ea typeface="Arial"/>
                <a:cs typeface="Arial"/>
              </a:defRPr>
            </a:lvl1pPr>
            <a:lvl2pPr>
              <a:defRPr sz="1800" b="0">
                <a:solidFill>
                  <a:srgbClr val="24251F"/>
                </a:solidFill>
                <a:latin typeface="Arial"/>
                <a:ea typeface="Arial"/>
                <a:cs typeface="Arial"/>
              </a:defRPr>
            </a:lvl2pPr>
            <a:lvl3pPr>
              <a:defRPr sz="1800" b="0">
                <a:solidFill>
                  <a:srgbClr val="24251F"/>
                </a:solidFill>
                <a:latin typeface="Arial"/>
                <a:ea typeface="Arial"/>
                <a:cs typeface="Arial"/>
              </a:defRPr>
            </a:lvl3pPr>
            <a:lvl4pPr>
              <a:defRPr sz="1800" b="0">
                <a:solidFill>
                  <a:srgbClr val="24251F"/>
                </a:solidFill>
                <a:latin typeface="Arial"/>
                <a:ea typeface="Arial"/>
                <a:cs typeface="Arial"/>
              </a:defRPr>
            </a:lvl4pPr>
            <a:lvl5pPr>
              <a:defRPr sz="1800" b="0">
                <a:solidFill>
                  <a:srgbClr val="24251F"/>
                </a:solidFill>
                <a:latin typeface="Arial"/>
                <a:ea typeface="Arial"/>
                <a:cs typeface="Arial"/>
              </a:defRPr>
            </a:lvl5pPr>
            <a:lvl6pPr>
              <a:defRPr sz="1800" b="0">
                <a:solidFill>
                  <a:srgbClr val="24251F"/>
                </a:solidFill>
                <a:latin typeface="Arial"/>
                <a:ea typeface="Arial"/>
                <a:cs typeface="Arial"/>
              </a:defRPr>
            </a:lvl6pPr>
            <a:lvl7pPr>
              <a:defRPr sz="1800" b="0">
                <a:solidFill>
                  <a:srgbClr val="24251F"/>
                </a:solidFill>
                <a:latin typeface="Arial"/>
                <a:ea typeface="Arial"/>
                <a:cs typeface="Arial"/>
              </a:defRPr>
            </a:lvl7pPr>
            <a:lvl8pPr>
              <a:defRPr sz="1800" b="0">
                <a:solidFill>
                  <a:srgbClr val="24251F"/>
                </a:solidFill>
                <a:latin typeface="Arial"/>
                <a:ea typeface="Arial"/>
                <a:cs typeface="Arial"/>
              </a:defRPr>
            </a:lvl8pPr>
            <a:lvl9pPr>
              <a:defRPr sz="1800" b="0">
                <a:solidFill>
                  <a:srgbClr val="24251F"/>
                </a:solidFill>
                <a:latin typeface="Arial"/>
                <a:ea typeface="Arial"/>
                <a:cs typeface="Arial"/>
              </a:defRPr>
            </a:lvl9pPr>
          </a:lstStyle>
          <a:p xmlns:a="http://schemas.openxmlformats.org/drawingml/2006/main">
            <a:pPr>
              <a:defRPr sz="1800" b="0">
                <a:solidFill>
                  <a:srgbClr val="24251F"/>
                </a:solidFill>
                <a:latin typeface="Arial"/>
                <a:ea typeface="Arial"/>
                <a:cs typeface="Arial"/>
              </a:defRPr>
            </a:pPr>
            <a:r>
              <a:rPr sz="1800" b="0">
                <a:solidFill>
                  <a:srgbClr val="24251F"/>
                </a:solidFill>
                <a:latin typeface="Arial"/>
                <a:ea typeface="Arial"/>
                <a:cs typeface="Arial"/>
              </a:rPr>
              <a:t>Remains in the business account</a:t>
            </a:r>
          </a:p>
        </p:txBody>
      </p:sp>
      <p:sp>
        <p:nvSpPr>
          <p:cNvPr id="12" name="">
            <a:extLst xmlns:a="http://schemas.openxmlformats.org/drawingml/2006/main">
              <a:ext uri="{FF2B5EF4-FFF2-40B4-BE49-F238E27FC236}">
                <a16:creationId xmlns:a16="http://schemas.microsoft.com/office/drawing/2014/main" id="{B6EB8FA7-7977-4EF0-8BA5-1050DD6B9897}"/>
              </a:ext>
            </a:extLst>
          </p:cNvPr>
          <p:cNvSpPr>
            <a:spLocks xmlns:a="http://schemas.openxmlformats.org/drawingml/2006/main" noGrp="1"/>
          </p:cNvSpPr>
          <p:nvPr/>
        </p:nvSpPr>
        <p:spPr>
          <a:xfrm xmlns:a="http://schemas.openxmlformats.org/drawingml/2006/main">
            <a:off x="9086850" y="5181600"/>
            <a:ext cx="2343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53B24"/>
                </a:solidFill>
                <a:latin typeface="Arial"/>
                <a:ea typeface="Arial"/>
                <a:cs typeface="Arial"/>
              </a:defRPr>
            </a:defPPr>
            <a:lvl1pPr>
              <a:defRPr sz="1800" b="0">
                <a:solidFill>
                  <a:srgbClr val="B53B24"/>
                </a:solidFill>
                <a:latin typeface="Arial"/>
                <a:ea typeface="Arial"/>
                <a:cs typeface="Arial"/>
              </a:defRPr>
            </a:lvl1pPr>
            <a:lvl2pPr>
              <a:defRPr sz="1800" b="0">
                <a:solidFill>
                  <a:srgbClr val="B53B24"/>
                </a:solidFill>
                <a:latin typeface="Arial"/>
                <a:ea typeface="Arial"/>
                <a:cs typeface="Arial"/>
              </a:defRPr>
            </a:lvl2pPr>
            <a:lvl3pPr>
              <a:defRPr sz="1800" b="0">
                <a:solidFill>
                  <a:srgbClr val="B53B24"/>
                </a:solidFill>
                <a:latin typeface="Arial"/>
                <a:ea typeface="Arial"/>
                <a:cs typeface="Arial"/>
              </a:defRPr>
            </a:lvl3pPr>
            <a:lvl4pPr>
              <a:defRPr sz="1800" b="0">
                <a:solidFill>
                  <a:srgbClr val="B53B24"/>
                </a:solidFill>
                <a:latin typeface="Arial"/>
                <a:ea typeface="Arial"/>
                <a:cs typeface="Arial"/>
              </a:defRPr>
            </a:lvl4pPr>
            <a:lvl5pPr>
              <a:defRPr sz="1800" b="0">
                <a:solidFill>
                  <a:srgbClr val="B53B24"/>
                </a:solidFill>
                <a:latin typeface="Arial"/>
                <a:ea typeface="Arial"/>
                <a:cs typeface="Arial"/>
              </a:defRPr>
            </a:lvl5pPr>
            <a:lvl6pPr>
              <a:defRPr sz="1800" b="0">
                <a:solidFill>
                  <a:srgbClr val="B53B24"/>
                </a:solidFill>
                <a:latin typeface="Arial"/>
                <a:ea typeface="Arial"/>
                <a:cs typeface="Arial"/>
              </a:defRPr>
            </a:lvl6pPr>
            <a:lvl7pPr>
              <a:defRPr sz="1800" b="0">
                <a:solidFill>
                  <a:srgbClr val="B53B24"/>
                </a:solidFill>
                <a:latin typeface="Arial"/>
                <a:ea typeface="Arial"/>
                <a:cs typeface="Arial"/>
              </a:defRPr>
            </a:lvl7pPr>
            <a:lvl8pPr>
              <a:defRPr sz="1800" b="0">
                <a:solidFill>
                  <a:srgbClr val="B53B24"/>
                </a:solidFill>
                <a:latin typeface="Arial"/>
                <a:ea typeface="Arial"/>
                <a:cs typeface="Arial"/>
              </a:defRPr>
            </a:lvl8pPr>
            <a:lvl9pPr>
              <a:defRPr sz="1800" b="0">
                <a:solidFill>
                  <a:srgbClr val="B53B24"/>
                </a:solidFill>
                <a:latin typeface="Arial"/>
                <a:ea typeface="Arial"/>
                <a:cs typeface="Arial"/>
              </a:defRPr>
            </a:lvl9pPr>
          </a:lstStyle>
          <a:p xmlns:a="http://schemas.openxmlformats.org/drawingml/2006/main">
            <a:pPr>
              <a:defRPr sz="1800" b="0">
                <a:solidFill>
                  <a:srgbClr val="B53B24"/>
                </a:solidFill>
                <a:latin typeface="Arial"/>
                <a:ea typeface="Arial"/>
                <a:cs typeface="Arial"/>
              </a:defRPr>
            </a:pPr>
            <a:r>
              <a:rPr sz="1800" b="0">
                <a:solidFill>
                  <a:srgbClr val="B53B24"/>
                </a:solidFill>
                <a:latin typeface="Arial"/>
                <a:ea typeface="Arial"/>
                <a:cs typeface="Arial"/>
              </a:rPr>
              <a:t>Repays native debt</a:t>
            </a:r>
          </a:p>
        </p:txBody>
      </p:sp>
      <p:sp>
        <p:nvSpPr>
          <p:cNvPr id="13" name="">
            <a:extLst xmlns:a="http://schemas.openxmlformats.org/drawingml/2006/main">
              <a:ext uri="{FF2B5EF4-FFF2-40B4-BE49-F238E27FC236}">
                <a16:creationId xmlns:a16="http://schemas.microsoft.com/office/drawing/2014/main" id="{B75401A7-3378-4009-99CD-7D6E1EA609D9}"/>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Recorded testnet receipt with a 20% rule. Withdrawal still respects the cash floor and allocation</a:t>
            </a:r>
          </a:p>
        </p:txBody>
      </p:sp>
    </p:spTree>
    <p:extLst>
      <p:ext uri="{BB962C8B-B14F-4D97-AF65-F5344CB8AC3E}">
        <p14:creationId xmlns:p14="http://schemas.microsoft.com/office/powerpoint/2010/main" val="1618042503"/>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A789E7-39E7-4A0C-9E23-982383153AD9}"/>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CBB823-3F26-4E27-BD23-36AAA6B9FD3B}"/>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580F0D00-01C5-485B-A879-AC3DCB7D37B9}"/>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5F6DBCD-5F8F-4AA8-8D1A-8BE3F8F75C02}"/>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One workspace from loan to repayment</a:t>
            </a:r>
          </a:p>
        </p:txBody>
      </p:sp>
      <p:pic>
        <p:nvPicPr>
          <p:cNvPr id="5" name="">
            <a:extLst xmlns:a="http://schemas.openxmlformats.org/drawingml/2006/main">
              <a:ext uri="{FF2B5EF4-FFF2-40B4-BE49-F238E27FC236}">
                <a16:creationId xmlns:a16="http://schemas.microsoft.com/office/drawing/2014/main" id="{A4CF2DF7-6BF7-426B-A92C-EE27DF0DECD3}"/>
              </a:ext>
            </a:extLst>
          </p:cNvPr>
          <p:cNvPicPr>
            <a:picLocks xmlns:a="http://schemas.openxmlformats.org/drawingml/2006/main" noChangeAspect="1"/>
          </p:cNvPicPr>
          <p:nvPr/>
        </p:nvPicPr>
        <p:blipFill>
          <a:blip xmlns:r="http://schemas.openxmlformats.org/officeDocument/2006/relationships" xmlns:a="http://schemas.openxmlformats.org/drawingml/2006/main" r:embed="R78897f4ca0814af1"/>
          <a:stretch xmlns:a="http://schemas.openxmlformats.org/drawingml/2006/main"/>
        </p:blipFill>
        <p:spPr>
          <a:xfrm xmlns:a="http://schemas.openxmlformats.org/drawingml/2006/main">
            <a:off x="609600" y="2203647"/>
            <a:ext cx="7219950" cy="354608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9A5FD43-DFD0-4A73-A520-E92952E5D482}"/>
              </a:ext>
            </a:extLst>
          </p:cNvPr>
          <p:cNvSpPr>
            <a:spLocks xmlns:a="http://schemas.openxmlformats.org/drawingml/2006/main" noGrp="1"/>
          </p:cNvSpPr>
          <p:nvPr/>
        </p:nvSpPr>
        <p:spPr>
          <a:xfrm xmlns:a="http://schemas.openxmlformats.org/drawingml/2006/main">
            <a:off x="8343900" y="2238375"/>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4251F"/>
                </a:solidFill>
                <a:latin typeface="Georgia"/>
                <a:ea typeface="Georgia"/>
                <a:cs typeface="Georgia"/>
              </a:defRPr>
            </a:defPPr>
            <a:lvl1pPr>
              <a:defRPr sz="2325" b="0">
                <a:solidFill>
                  <a:srgbClr val="24251F"/>
                </a:solidFill>
                <a:latin typeface="Georgia"/>
                <a:ea typeface="Georgia"/>
                <a:cs typeface="Georgia"/>
              </a:defRPr>
            </a:lvl1pPr>
            <a:lvl2pPr>
              <a:defRPr sz="2325" b="0">
                <a:solidFill>
                  <a:srgbClr val="24251F"/>
                </a:solidFill>
                <a:latin typeface="Georgia"/>
                <a:ea typeface="Georgia"/>
                <a:cs typeface="Georgia"/>
              </a:defRPr>
            </a:lvl2pPr>
            <a:lvl3pPr>
              <a:defRPr sz="2325" b="0">
                <a:solidFill>
                  <a:srgbClr val="24251F"/>
                </a:solidFill>
                <a:latin typeface="Georgia"/>
                <a:ea typeface="Georgia"/>
                <a:cs typeface="Georgia"/>
              </a:defRPr>
            </a:lvl3pPr>
            <a:lvl4pPr>
              <a:defRPr sz="2325" b="0">
                <a:solidFill>
                  <a:srgbClr val="24251F"/>
                </a:solidFill>
                <a:latin typeface="Georgia"/>
                <a:ea typeface="Georgia"/>
                <a:cs typeface="Georgia"/>
              </a:defRPr>
            </a:lvl4pPr>
            <a:lvl5pPr>
              <a:defRPr sz="2325" b="0">
                <a:solidFill>
                  <a:srgbClr val="24251F"/>
                </a:solidFill>
                <a:latin typeface="Georgia"/>
                <a:ea typeface="Georgia"/>
                <a:cs typeface="Georgia"/>
              </a:defRPr>
            </a:lvl5pPr>
            <a:lvl6pPr>
              <a:defRPr sz="2325" b="0">
                <a:solidFill>
                  <a:srgbClr val="24251F"/>
                </a:solidFill>
                <a:latin typeface="Georgia"/>
                <a:ea typeface="Georgia"/>
                <a:cs typeface="Georgia"/>
              </a:defRPr>
            </a:lvl6pPr>
            <a:lvl7pPr>
              <a:defRPr sz="2325" b="0">
                <a:solidFill>
                  <a:srgbClr val="24251F"/>
                </a:solidFill>
                <a:latin typeface="Georgia"/>
                <a:ea typeface="Georgia"/>
                <a:cs typeface="Georgia"/>
              </a:defRPr>
            </a:lvl7pPr>
            <a:lvl8pPr>
              <a:defRPr sz="2325" b="0">
                <a:solidFill>
                  <a:srgbClr val="24251F"/>
                </a:solidFill>
                <a:latin typeface="Georgia"/>
                <a:ea typeface="Georgia"/>
                <a:cs typeface="Georgia"/>
              </a:defRPr>
            </a:lvl8pPr>
            <a:lvl9pPr>
              <a:defRPr sz="2325" b="0">
                <a:solidFill>
                  <a:srgbClr val="24251F"/>
                </a:solidFill>
                <a:latin typeface="Georgia"/>
                <a:ea typeface="Georgia"/>
                <a:cs typeface="Georgia"/>
              </a:defRPr>
            </a:lvl9pPr>
          </a:lstStyle>
          <a:p xmlns:a="http://schemas.openxmlformats.org/drawingml/2006/main">
            <a:pPr>
              <a:defRPr sz="2325" b="0">
                <a:solidFill>
                  <a:srgbClr val="24251F"/>
                </a:solidFill>
                <a:latin typeface="Georgia"/>
                <a:ea typeface="Georgia"/>
                <a:cs typeface="Georgia"/>
              </a:defRPr>
            </a:pPr>
            <a:r>
              <a:rPr sz="2325" b="0">
                <a:solidFill>
                  <a:srgbClr val="24251F"/>
                </a:solidFill>
                <a:latin typeface="Georgia"/>
                <a:ea typeface="Georgia"/>
                <a:cs typeface="Georgia"/>
              </a:rPr>
              <a:t>Borrow against BTC</a:t>
            </a:r>
          </a:p>
        </p:txBody>
      </p:sp>
      <p:sp>
        <p:nvSpPr>
          <p:cNvPr id="7" name="">
            <a:extLst xmlns:a="http://schemas.openxmlformats.org/drawingml/2006/main">
              <a:ext uri="{FF2B5EF4-FFF2-40B4-BE49-F238E27FC236}">
                <a16:creationId xmlns:a16="http://schemas.microsoft.com/office/drawing/2014/main" id="{5C12353C-9A4A-42E2-A3F9-FD5A627C68BE}"/>
              </a:ext>
            </a:extLst>
          </p:cNvPr>
          <p:cNvSpPr>
            <a:spLocks xmlns:a="http://schemas.openxmlformats.org/drawingml/2006/main" noGrp="1"/>
          </p:cNvSpPr>
          <p:nvPr/>
        </p:nvSpPr>
        <p:spPr>
          <a:xfrm xmlns:a="http://schemas.openxmlformats.org/drawingml/2006/main">
            <a:off x="8343900" y="3333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Choose your share</a:t>
            </a:r>
          </a:p>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and cash floor</a:t>
            </a:r>
          </a:p>
        </p:txBody>
      </p:sp>
      <p:sp>
        <p:nvSpPr>
          <p:cNvPr id="8" name="">
            <a:extLst xmlns:a="http://schemas.openxmlformats.org/drawingml/2006/main">
              <a:ext uri="{FF2B5EF4-FFF2-40B4-BE49-F238E27FC236}">
                <a16:creationId xmlns:a16="http://schemas.microsoft.com/office/drawing/2014/main" id="{F65F2806-45CA-4CAF-9074-0F911E48C1EB}"/>
              </a:ext>
            </a:extLst>
          </p:cNvPr>
          <p:cNvSpPr>
            <a:spLocks xmlns:a="http://schemas.openxmlformats.org/drawingml/2006/main" noGrp="1"/>
          </p:cNvSpPr>
          <p:nvPr/>
        </p:nvSpPr>
        <p:spPr>
          <a:xfrm xmlns:a="http://schemas.openxmlformats.org/drawingml/2006/main">
            <a:off x="8343900" y="4524375"/>
            <a:ext cx="314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Invoice customers.</a:t>
            </a:r>
          </a:p>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Watch receipts</a:t>
            </a:r>
          </a:p>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reduce debt.</a:t>
            </a:r>
          </a:p>
        </p:txBody>
      </p:sp>
      <p:sp>
        <p:nvSpPr>
          <p:cNvPr id="9" name="">
            <a:extLst xmlns:a="http://schemas.openxmlformats.org/drawingml/2006/main">
              <a:ext uri="{FF2B5EF4-FFF2-40B4-BE49-F238E27FC236}">
                <a16:creationId xmlns:a16="http://schemas.microsoft.com/office/drawing/2014/main" id="{E8A1F701-EF5B-4B2E-AC64-DEBC1752AE3C}"/>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Public demo captured read-only on 25 October 2026, at Mezo testnet block 16,367,839</a:t>
            </a:r>
          </a:p>
        </p:txBody>
      </p:sp>
    </p:spTree>
    <p:extLst>
      <p:ext uri="{BB962C8B-B14F-4D97-AF65-F5344CB8AC3E}">
        <p14:creationId xmlns:p14="http://schemas.microsoft.com/office/powerpoint/2010/main" val="1392254794"/>
      </p:ext>
    </p:extLst>
  </p:cSld>
</p:sld>
</file>

<file path=ppt/slides/slide5.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EFF81F-42B5-447D-9BEC-E029EB26D358}"/>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F50F18-42FD-4CD9-8AFF-B24938A9A0AB}"/>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876954F7-B4AF-4625-B9FA-E5AB60CF87EC}"/>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0398FFB-F7C6-4E7E-9FBC-3B4465969377}"/>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The repayment reaches native Mezo debt</a:t>
            </a:r>
          </a:p>
        </p:txBody>
      </p:sp>
      <p:sp>
        <p:nvSpPr>
          <p:cNvPr id="5" name="">
            <a:extLst xmlns:a="http://schemas.openxmlformats.org/drawingml/2006/main">
              <a:ext uri="{FF2B5EF4-FFF2-40B4-BE49-F238E27FC236}">
                <a16:creationId xmlns:a16="http://schemas.microsoft.com/office/drawing/2014/main" id="{78A451F7-435E-4C87-A32B-8F59B0C47C8F}"/>
              </a:ext>
            </a:extLst>
          </p:cNvPr>
          <p:cNvSpPr>
            <a:spLocks xmlns:a="http://schemas.openxmlformats.org/drawingml/2006/main" noGrp="1"/>
          </p:cNvSpPr>
          <p:nvPr/>
        </p:nvSpPr>
        <p:spPr>
          <a:xfrm xmlns:a="http://schemas.openxmlformats.org/drawingml/2006/main">
            <a:off x="609600" y="21907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0">
                <a:solidFill>
                  <a:srgbClr val="24251F"/>
                </a:solidFill>
                <a:latin typeface="Georgia"/>
                <a:ea typeface="Georgia"/>
                <a:cs typeface="Georgia"/>
              </a:defRPr>
            </a:defPPr>
            <a:lvl1pPr>
              <a:defRPr sz="5400" b="0">
                <a:solidFill>
                  <a:srgbClr val="24251F"/>
                </a:solidFill>
                <a:latin typeface="Georgia"/>
                <a:ea typeface="Georgia"/>
                <a:cs typeface="Georgia"/>
              </a:defRPr>
            </a:lvl1pPr>
            <a:lvl2pPr>
              <a:defRPr sz="5400" b="0">
                <a:solidFill>
                  <a:srgbClr val="24251F"/>
                </a:solidFill>
                <a:latin typeface="Georgia"/>
                <a:ea typeface="Georgia"/>
                <a:cs typeface="Georgia"/>
              </a:defRPr>
            </a:lvl2pPr>
            <a:lvl3pPr>
              <a:defRPr sz="5400" b="0">
                <a:solidFill>
                  <a:srgbClr val="24251F"/>
                </a:solidFill>
                <a:latin typeface="Georgia"/>
                <a:ea typeface="Georgia"/>
                <a:cs typeface="Georgia"/>
              </a:defRPr>
            </a:lvl3pPr>
            <a:lvl4pPr>
              <a:defRPr sz="5400" b="0">
                <a:solidFill>
                  <a:srgbClr val="24251F"/>
                </a:solidFill>
                <a:latin typeface="Georgia"/>
                <a:ea typeface="Georgia"/>
                <a:cs typeface="Georgia"/>
              </a:defRPr>
            </a:lvl4pPr>
            <a:lvl5pPr>
              <a:defRPr sz="5400" b="0">
                <a:solidFill>
                  <a:srgbClr val="24251F"/>
                </a:solidFill>
                <a:latin typeface="Georgia"/>
                <a:ea typeface="Georgia"/>
                <a:cs typeface="Georgia"/>
              </a:defRPr>
            </a:lvl5pPr>
            <a:lvl6pPr>
              <a:defRPr sz="5400" b="0">
                <a:solidFill>
                  <a:srgbClr val="24251F"/>
                </a:solidFill>
                <a:latin typeface="Georgia"/>
                <a:ea typeface="Georgia"/>
                <a:cs typeface="Georgia"/>
              </a:defRPr>
            </a:lvl6pPr>
            <a:lvl7pPr>
              <a:defRPr sz="5400" b="0">
                <a:solidFill>
                  <a:srgbClr val="24251F"/>
                </a:solidFill>
                <a:latin typeface="Georgia"/>
                <a:ea typeface="Georgia"/>
                <a:cs typeface="Georgia"/>
              </a:defRPr>
            </a:lvl7pPr>
            <a:lvl8pPr>
              <a:defRPr sz="5400" b="0">
                <a:solidFill>
                  <a:srgbClr val="24251F"/>
                </a:solidFill>
                <a:latin typeface="Georgia"/>
                <a:ea typeface="Georgia"/>
                <a:cs typeface="Georgia"/>
              </a:defRPr>
            </a:lvl8pPr>
            <a:lvl9pPr>
              <a:defRPr sz="5400" b="0">
                <a:solidFill>
                  <a:srgbClr val="24251F"/>
                </a:solidFill>
                <a:latin typeface="Georgia"/>
                <a:ea typeface="Georgia"/>
                <a:cs typeface="Georgia"/>
              </a:defRPr>
            </a:lvl9pPr>
          </a:lstStyle>
          <a:p xmlns:a="http://schemas.openxmlformats.org/drawingml/2006/main">
            <a:pPr>
              <a:defRPr sz="5400" b="0">
                <a:solidFill>
                  <a:srgbClr val="24251F"/>
                </a:solidFill>
                <a:latin typeface="Georgia"/>
                <a:ea typeface="Georgia"/>
                <a:cs typeface="Georgia"/>
              </a:defRPr>
            </a:pPr>
            <a:r>
              <a:rPr sz="5400" b="0">
                <a:solidFill>
                  <a:srgbClr val="24251F"/>
                </a:solidFill>
                <a:latin typeface="Georgia"/>
                <a:ea typeface="Georgia"/>
                <a:cs typeface="Georgia"/>
              </a:rPr>
              <a:t>2,000</a:t>
            </a:r>
          </a:p>
        </p:txBody>
      </p:sp>
      <p:sp>
        <p:nvSpPr>
          <p:cNvPr id="6" name="">
            <a:extLst xmlns:a="http://schemas.openxmlformats.org/drawingml/2006/main">
              <a:ext uri="{FF2B5EF4-FFF2-40B4-BE49-F238E27FC236}">
                <a16:creationId xmlns:a16="http://schemas.microsoft.com/office/drawing/2014/main" id="{D290C922-7737-471F-9407-B8EEE52A322B}"/>
              </a:ext>
            </a:extLst>
          </p:cNvPr>
          <p:cNvSpPr>
            <a:spLocks xmlns:a="http://schemas.openxmlformats.org/drawingml/2006/main" noGrp="1"/>
          </p:cNvSpPr>
          <p:nvPr/>
        </p:nvSpPr>
        <p:spPr>
          <a:xfrm xmlns:a="http://schemas.openxmlformats.org/drawingml/2006/main">
            <a:off x="609600" y="31908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251F"/>
                </a:solidFill>
                <a:latin typeface="Arial"/>
                <a:ea typeface="Arial"/>
                <a:cs typeface="Arial"/>
              </a:defRPr>
            </a:defPPr>
            <a:lvl1pPr>
              <a:defRPr sz="1950" b="0">
                <a:solidFill>
                  <a:srgbClr val="24251F"/>
                </a:solidFill>
                <a:latin typeface="Arial"/>
                <a:ea typeface="Arial"/>
                <a:cs typeface="Arial"/>
              </a:defRPr>
            </a:lvl1pPr>
            <a:lvl2pPr>
              <a:defRPr sz="1950" b="0">
                <a:solidFill>
                  <a:srgbClr val="24251F"/>
                </a:solidFill>
                <a:latin typeface="Arial"/>
                <a:ea typeface="Arial"/>
                <a:cs typeface="Arial"/>
              </a:defRPr>
            </a:lvl2pPr>
            <a:lvl3pPr>
              <a:defRPr sz="1950" b="0">
                <a:solidFill>
                  <a:srgbClr val="24251F"/>
                </a:solidFill>
                <a:latin typeface="Arial"/>
                <a:ea typeface="Arial"/>
                <a:cs typeface="Arial"/>
              </a:defRPr>
            </a:lvl3pPr>
            <a:lvl4pPr>
              <a:defRPr sz="1950" b="0">
                <a:solidFill>
                  <a:srgbClr val="24251F"/>
                </a:solidFill>
                <a:latin typeface="Arial"/>
                <a:ea typeface="Arial"/>
                <a:cs typeface="Arial"/>
              </a:defRPr>
            </a:lvl4pPr>
            <a:lvl5pPr>
              <a:defRPr sz="1950" b="0">
                <a:solidFill>
                  <a:srgbClr val="24251F"/>
                </a:solidFill>
                <a:latin typeface="Arial"/>
                <a:ea typeface="Arial"/>
                <a:cs typeface="Arial"/>
              </a:defRPr>
            </a:lvl5pPr>
            <a:lvl6pPr>
              <a:defRPr sz="1950" b="0">
                <a:solidFill>
                  <a:srgbClr val="24251F"/>
                </a:solidFill>
                <a:latin typeface="Arial"/>
                <a:ea typeface="Arial"/>
                <a:cs typeface="Arial"/>
              </a:defRPr>
            </a:lvl6pPr>
            <a:lvl7pPr>
              <a:defRPr sz="1950" b="0">
                <a:solidFill>
                  <a:srgbClr val="24251F"/>
                </a:solidFill>
                <a:latin typeface="Arial"/>
                <a:ea typeface="Arial"/>
                <a:cs typeface="Arial"/>
              </a:defRPr>
            </a:lvl7pPr>
            <a:lvl8pPr>
              <a:defRPr sz="1950" b="0">
                <a:solidFill>
                  <a:srgbClr val="24251F"/>
                </a:solidFill>
                <a:latin typeface="Arial"/>
                <a:ea typeface="Arial"/>
                <a:cs typeface="Arial"/>
              </a:defRPr>
            </a:lvl8pPr>
            <a:lvl9pPr>
              <a:defRPr sz="1950" b="0">
                <a:solidFill>
                  <a:srgbClr val="24251F"/>
                </a:solidFill>
                <a:latin typeface="Arial"/>
                <a:ea typeface="Arial"/>
                <a:cs typeface="Arial"/>
              </a:defRPr>
            </a:lvl9pPr>
          </a:lstStyle>
          <a:p xmlns:a="http://schemas.openxmlformats.org/drawingml/2006/main">
            <a:pPr>
              <a:defRPr sz="1950" b="0">
                <a:solidFill>
                  <a:srgbClr val="24251F"/>
                </a:solidFill>
                <a:latin typeface="Arial"/>
                <a:ea typeface="Arial"/>
                <a:cs typeface="Arial"/>
              </a:defRPr>
            </a:pPr>
            <a:r>
              <a:rPr sz="1950" b="0">
                <a:solidFill>
                  <a:srgbClr val="24251F"/>
                </a:solidFill>
                <a:latin typeface="Arial"/>
                <a:ea typeface="Arial"/>
                <a:cs typeface="Arial"/>
              </a:rPr>
              <a:t>MUSD borrowed</a:t>
            </a:r>
          </a:p>
        </p:txBody>
      </p:sp>
      <p:sp>
        <p:nvSpPr>
          <p:cNvPr id="7" name="">
            <a:extLst xmlns:a="http://schemas.openxmlformats.org/drawingml/2006/main">
              <a:ext uri="{FF2B5EF4-FFF2-40B4-BE49-F238E27FC236}">
                <a16:creationId xmlns:a16="http://schemas.microsoft.com/office/drawing/2014/main" id="{92D485D7-3507-42B1-B8C8-7E9FF9219521}"/>
              </a:ext>
            </a:extLst>
          </p:cNvPr>
          <p:cNvSpPr>
            <a:spLocks xmlns:a="http://schemas.openxmlformats.org/drawingml/2006/main" noGrp="1"/>
          </p:cNvSpPr>
          <p:nvPr/>
        </p:nvSpPr>
        <p:spPr>
          <a:xfrm xmlns:a="http://schemas.openxmlformats.org/drawingml/2006/main">
            <a:off x="609600" y="3848100"/>
            <a:ext cx="3238500" cy="4762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5810918-AF0B-4FEF-A258-C3FD8D0C90A2}"/>
              </a:ext>
            </a:extLst>
          </p:cNvPr>
          <p:cNvSpPr>
            <a:spLocks xmlns:a="http://schemas.openxmlformats.org/drawingml/2006/main" noGrp="1"/>
          </p:cNvSpPr>
          <p:nvPr/>
        </p:nvSpPr>
        <p:spPr>
          <a:xfrm xmlns:a="http://schemas.openxmlformats.org/drawingml/2006/main">
            <a:off x="4457700" y="21907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0">
                <a:solidFill>
                  <a:srgbClr val="24251F"/>
                </a:solidFill>
                <a:latin typeface="Georgia"/>
                <a:ea typeface="Georgia"/>
                <a:cs typeface="Georgia"/>
              </a:defRPr>
            </a:defPPr>
            <a:lvl1pPr>
              <a:defRPr sz="5400" b="0">
                <a:solidFill>
                  <a:srgbClr val="24251F"/>
                </a:solidFill>
                <a:latin typeface="Georgia"/>
                <a:ea typeface="Georgia"/>
                <a:cs typeface="Georgia"/>
              </a:defRPr>
            </a:lvl1pPr>
            <a:lvl2pPr>
              <a:defRPr sz="5400" b="0">
                <a:solidFill>
                  <a:srgbClr val="24251F"/>
                </a:solidFill>
                <a:latin typeface="Georgia"/>
                <a:ea typeface="Georgia"/>
                <a:cs typeface="Georgia"/>
              </a:defRPr>
            </a:lvl2pPr>
            <a:lvl3pPr>
              <a:defRPr sz="5400" b="0">
                <a:solidFill>
                  <a:srgbClr val="24251F"/>
                </a:solidFill>
                <a:latin typeface="Georgia"/>
                <a:ea typeface="Georgia"/>
                <a:cs typeface="Georgia"/>
              </a:defRPr>
            </a:lvl3pPr>
            <a:lvl4pPr>
              <a:defRPr sz="5400" b="0">
                <a:solidFill>
                  <a:srgbClr val="24251F"/>
                </a:solidFill>
                <a:latin typeface="Georgia"/>
                <a:ea typeface="Georgia"/>
                <a:cs typeface="Georgia"/>
              </a:defRPr>
            </a:lvl4pPr>
            <a:lvl5pPr>
              <a:defRPr sz="5400" b="0">
                <a:solidFill>
                  <a:srgbClr val="24251F"/>
                </a:solidFill>
                <a:latin typeface="Georgia"/>
                <a:ea typeface="Georgia"/>
                <a:cs typeface="Georgia"/>
              </a:defRPr>
            </a:lvl5pPr>
            <a:lvl6pPr>
              <a:defRPr sz="5400" b="0">
                <a:solidFill>
                  <a:srgbClr val="24251F"/>
                </a:solidFill>
                <a:latin typeface="Georgia"/>
                <a:ea typeface="Georgia"/>
                <a:cs typeface="Georgia"/>
              </a:defRPr>
            </a:lvl6pPr>
            <a:lvl7pPr>
              <a:defRPr sz="5400" b="0">
                <a:solidFill>
                  <a:srgbClr val="24251F"/>
                </a:solidFill>
                <a:latin typeface="Georgia"/>
                <a:ea typeface="Georgia"/>
                <a:cs typeface="Georgia"/>
              </a:defRPr>
            </a:lvl7pPr>
            <a:lvl8pPr>
              <a:defRPr sz="5400" b="0">
                <a:solidFill>
                  <a:srgbClr val="24251F"/>
                </a:solidFill>
                <a:latin typeface="Georgia"/>
                <a:ea typeface="Georgia"/>
                <a:cs typeface="Georgia"/>
              </a:defRPr>
            </a:lvl8pPr>
            <a:lvl9pPr>
              <a:defRPr sz="5400" b="0">
                <a:solidFill>
                  <a:srgbClr val="24251F"/>
                </a:solidFill>
                <a:latin typeface="Georgia"/>
                <a:ea typeface="Georgia"/>
                <a:cs typeface="Georgia"/>
              </a:defRPr>
            </a:lvl9pPr>
          </a:lstStyle>
          <a:p xmlns:a="http://schemas.openxmlformats.org/drawingml/2006/main">
            <a:pPr>
              <a:defRPr sz="5400" b="0">
                <a:solidFill>
                  <a:srgbClr val="24251F"/>
                </a:solidFill>
                <a:latin typeface="Georgia"/>
                <a:ea typeface="Georgia"/>
                <a:cs typeface="Georgia"/>
              </a:defRPr>
            </a:pPr>
            <a:r>
              <a:rPr sz="5400" b="0">
                <a:solidFill>
                  <a:srgbClr val="24251F"/>
                </a:solidFill>
                <a:latin typeface="Georgia"/>
                <a:ea typeface="Georgia"/>
                <a:cs typeface="Georgia"/>
              </a:rPr>
              <a:t>500</a:t>
            </a:r>
          </a:p>
        </p:txBody>
      </p:sp>
      <p:sp>
        <p:nvSpPr>
          <p:cNvPr id="9" name="">
            <a:extLst xmlns:a="http://schemas.openxmlformats.org/drawingml/2006/main">
              <a:ext uri="{FF2B5EF4-FFF2-40B4-BE49-F238E27FC236}">
                <a16:creationId xmlns:a16="http://schemas.microsoft.com/office/drawing/2014/main" id="{5FFFC994-1F6D-4DA3-A970-4DEA2F235075}"/>
              </a:ext>
            </a:extLst>
          </p:cNvPr>
          <p:cNvSpPr>
            <a:spLocks xmlns:a="http://schemas.openxmlformats.org/drawingml/2006/main" noGrp="1"/>
          </p:cNvSpPr>
          <p:nvPr/>
        </p:nvSpPr>
        <p:spPr>
          <a:xfrm xmlns:a="http://schemas.openxmlformats.org/drawingml/2006/main">
            <a:off x="4457700" y="31908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251F"/>
                </a:solidFill>
                <a:latin typeface="Arial"/>
                <a:ea typeface="Arial"/>
                <a:cs typeface="Arial"/>
              </a:defRPr>
            </a:defPPr>
            <a:lvl1pPr>
              <a:defRPr sz="1950" b="0">
                <a:solidFill>
                  <a:srgbClr val="24251F"/>
                </a:solidFill>
                <a:latin typeface="Arial"/>
                <a:ea typeface="Arial"/>
                <a:cs typeface="Arial"/>
              </a:defRPr>
            </a:lvl1pPr>
            <a:lvl2pPr>
              <a:defRPr sz="1950" b="0">
                <a:solidFill>
                  <a:srgbClr val="24251F"/>
                </a:solidFill>
                <a:latin typeface="Arial"/>
                <a:ea typeface="Arial"/>
                <a:cs typeface="Arial"/>
              </a:defRPr>
            </a:lvl2pPr>
            <a:lvl3pPr>
              <a:defRPr sz="1950" b="0">
                <a:solidFill>
                  <a:srgbClr val="24251F"/>
                </a:solidFill>
                <a:latin typeface="Arial"/>
                <a:ea typeface="Arial"/>
                <a:cs typeface="Arial"/>
              </a:defRPr>
            </a:lvl3pPr>
            <a:lvl4pPr>
              <a:defRPr sz="1950" b="0">
                <a:solidFill>
                  <a:srgbClr val="24251F"/>
                </a:solidFill>
                <a:latin typeface="Arial"/>
                <a:ea typeface="Arial"/>
                <a:cs typeface="Arial"/>
              </a:defRPr>
            </a:lvl4pPr>
            <a:lvl5pPr>
              <a:defRPr sz="1950" b="0">
                <a:solidFill>
                  <a:srgbClr val="24251F"/>
                </a:solidFill>
                <a:latin typeface="Arial"/>
                <a:ea typeface="Arial"/>
                <a:cs typeface="Arial"/>
              </a:defRPr>
            </a:lvl5pPr>
            <a:lvl6pPr>
              <a:defRPr sz="1950" b="0">
                <a:solidFill>
                  <a:srgbClr val="24251F"/>
                </a:solidFill>
                <a:latin typeface="Arial"/>
                <a:ea typeface="Arial"/>
                <a:cs typeface="Arial"/>
              </a:defRPr>
            </a:lvl6pPr>
            <a:lvl7pPr>
              <a:defRPr sz="1950" b="0">
                <a:solidFill>
                  <a:srgbClr val="24251F"/>
                </a:solidFill>
                <a:latin typeface="Arial"/>
                <a:ea typeface="Arial"/>
                <a:cs typeface="Arial"/>
              </a:defRPr>
            </a:lvl7pPr>
            <a:lvl8pPr>
              <a:defRPr sz="1950" b="0">
                <a:solidFill>
                  <a:srgbClr val="24251F"/>
                </a:solidFill>
                <a:latin typeface="Arial"/>
                <a:ea typeface="Arial"/>
                <a:cs typeface="Arial"/>
              </a:defRPr>
            </a:lvl8pPr>
            <a:lvl9pPr>
              <a:defRPr sz="1950" b="0">
                <a:solidFill>
                  <a:srgbClr val="24251F"/>
                </a:solidFill>
                <a:latin typeface="Arial"/>
                <a:ea typeface="Arial"/>
                <a:cs typeface="Arial"/>
              </a:defRPr>
            </a:lvl9pPr>
          </a:lstStyle>
          <a:p xmlns:a="http://schemas.openxmlformats.org/drawingml/2006/main">
            <a:pPr>
              <a:defRPr sz="1950" b="0">
                <a:solidFill>
                  <a:srgbClr val="24251F"/>
                </a:solidFill>
                <a:latin typeface="Arial"/>
                <a:ea typeface="Arial"/>
                <a:cs typeface="Arial"/>
              </a:defRPr>
            </a:pPr>
            <a:r>
              <a:rPr sz="1950" b="0">
                <a:solidFill>
                  <a:srgbClr val="24251F"/>
                </a:solidFill>
                <a:latin typeface="Arial"/>
                <a:ea typeface="Arial"/>
                <a:cs typeface="Arial"/>
              </a:rPr>
              <a:t>MUSD receipt</a:t>
            </a:r>
          </a:p>
        </p:txBody>
      </p:sp>
      <p:sp>
        <p:nvSpPr>
          <p:cNvPr id="10" name="">
            <a:extLst xmlns:a="http://schemas.openxmlformats.org/drawingml/2006/main">
              <a:ext uri="{FF2B5EF4-FFF2-40B4-BE49-F238E27FC236}">
                <a16:creationId xmlns:a16="http://schemas.microsoft.com/office/drawing/2014/main" id="{93E14AC2-2496-4070-AE15-B7AE04FDDE33}"/>
              </a:ext>
            </a:extLst>
          </p:cNvPr>
          <p:cNvSpPr>
            <a:spLocks xmlns:a="http://schemas.openxmlformats.org/drawingml/2006/main" noGrp="1"/>
          </p:cNvSpPr>
          <p:nvPr/>
        </p:nvSpPr>
        <p:spPr>
          <a:xfrm xmlns:a="http://schemas.openxmlformats.org/drawingml/2006/main">
            <a:off x="4457700" y="3848100"/>
            <a:ext cx="3238500" cy="4762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16E275-28FD-4FFF-9714-53D14623843B}"/>
              </a:ext>
            </a:extLst>
          </p:cNvPr>
          <p:cNvSpPr>
            <a:spLocks xmlns:a="http://schemas.openxmlformats.org/drawingml/2006/main" noGrp="1"/>
          </p:cNvSpPr>
          <p:nvPr/>
        </p:nvSpPr>
        <p:spPr>
          <a:xfrm xmlns:a="http://schemas.openxmlformats.org/drawingml/2006/main">
            <a:off x="8267700" y="21907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0">
                <a:solidFill>
                  <a:srgbClr val="24251F"/>
                </a:solidFill>
                <a:latin typeface="Georgia"/>
                <a:ea typeface="Georgia"/>
                <a:cs typeface="Georgia"/>
              </a:defRPr>
            </a:defPPr>
            <a:lvl1pPr>
              <a:defRPr sz="5400" b="0">
                <a:solidFill>
                  <a:srgbClr val="24251F"/>
                </a:solidFill>
                <a:latin typeface="Georgia"/>
                <a:ea typeface="Georgia"/>
                <a:cs typeface="Georgia"/>
              </a:defRPr>
            </a:lvl1pPr>
            <a:lvl2pPr>
              <a:defRPr sz="5400" b="0">
                <a:solidFill>
                  <a:srgbClr val="24251F"/>
                </a:solidFill>
                <a:latin typeface="Georgia"/>
                <a:ea typeface="Georgia"/>
                <a:cs typeface="Georgia"/>
              </a:defRPr>
            </a:lvl2pPr>
            <a:lvl3pPr>
              <a:defRPr sz="5400" b="0">
                <a:solidFill>
                  <a:srgbClr val="24251F"/>
                </a:solidFill>
                <a:latin typeface="Georgia"/>
                <a:ea typeface="Georgia"/>
                <a:cs typeface="Georgia"/>
              </a:defRPr>
            </a:lvl3pPr>
            <a:lvl4pPr>
              <a:defRPr sz="5400" b="0">
                <a:solidFill>
                  <a:srgbClr val="24251F"/>
                </a:solidFill>
                <a:latin typeface="Georgia"/>
                <a:ea typeface="Georgia"/>
                <a:cs typeface="Georgia"/>
              </a:defRPr>
            </a:lvl4pPr>
            <a:lvl5pPr>
              <a:defRPr sz="5400" b="0">
                <a:solidFill>
                  <a:srgbClr val="24251F"/>
                </a:solidFill>
                <a:latin typeface="Georgia"/>
                <a:ea typeface="Georgia"/>
                <a:cs typeface="Georgia"/>
              </a:defRPr>
            </a:lvl5pPr>
            <a:lvl6pPr>
              <a:defRPr sz="5400" b="0">
                <a:solidFill>
                  <a:srgbClr val="24251F"/>
                </a:solidFill>
                <a:latin typeface="Georgia"/>
                <a:ea typeface="Georgia"/>
                <a:cs typeface="Georgia"/>
              </a:defRPr>
            </a:lvl6pPr>
            <a:lvl7pPr>
              <a:defRPr sz="5400" b="0">
                <a:solidFill>
                  <a:srgbClr val="24251F"/>
                </a:solidFill>
                <a:latin typeface="Georgia"/>
                <a:ea typeface="Georgia"/>
                <a:cs typeface="Georgia"/>
              </a:defRPr>
            </a:lvl7pPr>
            <a:lvl8pPr>
              <a:defRPr sz="5400" b="0">
                <a:solidFill>
                  <a:srgbClr val="24251F"/>
                </a:solidFill>
                <a:latin typeface="Georgia"/>
                <a:ea typeface="Georgia"/>
                <a:cs typeface="Georgia"/>
              </a:defRPr>
            </a:lvl8pPr>
            <a:lvl9pPr>
              <a:defRPr sz="5400" b="0">
                <a:solidFill>
                  <a:srgbClr val="24251F"/>
                </a:solidFill>
                <a:latin typeface="Georgia"/>
                <a:ea typeface="Georgia"/>
                <a:cs typeface="Georgia"/>
              </a:defRPr>
            </a:lvl9pPr>
          </a:lstStyle>
          <a:p xmlns:a="http://schemas.openxmlformats.org/drawingml/2006/main">
            <a:pPr>
              <a:defRPr sz="5400" b="0">
                <a:solidFill>
                  <a:srgbClr val="24251F"/>
                </a:solidFill>
                <a:latin typeface="Georgia"/>
                <a:ea typeface="Georgia"/>
                <a:cs typeface="Georgia"/>
              </a:defRPr>
            </a:pPr>
            <a:r>
              <a:rPr sz="5400" b="0">
                <a:solidFill>
                  <a:srgbClr val="24251F"/>
                </a:solidFill>
                <a:latin typeface="Georgia"/>
                <a:ea typeface="Georgia"/>
                <a:cs typeface="Georgia"/>
              </a:rPr>
              <a:t>100</a:t>
            </a:r>
          </a:p>
        </p:txBody>
      </p:sp>
      <p:sp>
        <p:nvSpPr>
          <p:cNvPr id="12" name="">
            <a:extLst xmlns:a="http://schemas.openxmlformats.org/drawingml/2006/main">
              <a:ext uri="{FF2B5EF4-FFF2-40B4-BE49-F238E27FC236}">
                <a16:creationId xmlns:a16="http://schemas.microsoft.com/office/drawing/2014/main" id="{81141580-2B6F-47EF-9878-D260A4C722EE}"/>
              </a:ext>
            </a:extLst>
          </p:cNvPr>
          <p:cNvSpPr>
            <a:spLocks xmlns:a="http://schemas.openxmlformats.org/drawingml/2006/main" noGrp="1"/>
          </p:cNvSpPr>
          <p:nvPr/>
        </p:nvSpPr>
        <p:spPr>
          <a:xfrm xmlns:a="http://schemas.openxmlformats.org/drawingml/2006/main">
            <a:off x="8267700" y="31908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53B24"/>
                </a:solidFill>
                <a:latin typeface="Arial"/>
                <a:ea typeface="Arial"/>
                <a:cs typeface="Arial"/>
              </a:defRPr>
            </a:defPPr>
            <a:lvl1pPr>
              <a:defRPr sz="1950" b="0">
                <a:solidFill>
                  <a:srgbClr val="B53B24"/>
                </a:solidFill>
                <a:latin typeface="Arial"/>
                <a:ea typeface="Arial"/>
                <a:cs typeface="Arial"/>
              </a:defRPr>
            </a:lvl1pPr>
            <a:lvl2pPr>
              <a:defRPr sz="1950" b="0">
                <a:solidFill>
                  <a:srgbClr val="B53B24"/>
                </a:solidFill>
                <a:latin typeface="Arial"/>
                <a:ea typeface="Arial"/>
                <a:cs typeface="Arial"/>
              </a:defRPr>
            </a:lvl2pPr>
            <a:lvl3pPr>
              <a:defRPr sz="1950" b="0">
                <a:solidFill>
                  <a:srgbClr val="B53B24"/>
                </a:solidFill>
                <a:latin typeface="Arial"/>
                <a:ea typeface="Arial"/>
                <a:cs typeface="Arial"/>
              </a:defRPr>
            </a:lvl3pPr>
            <a:lvl4pPr>
              <a:defRPr sz="1950" b="0">
                <a:solidFill>
                  <a:srgbClr val="B53B24"/>
                </a:solidFill>
                <a:latin typeface="Arial"/>
                <a:ea typeface="Arial"/>
                <a:cs typeface="Arial"/>
              </a:defRPr>
            </a:lvl4pPr>
            <a:lvl5pPr>
              <a:defRPr sz="1950" b="0">
                <a:solidFill>
                  <a:srgbClr val="B53B24"/>
                </a:solidFill>
                <a:latin typeface="Arial"/>
                <a:ea typeface="Arial"/>
                <a:cs typeface="Arial"/>
              </a:defRPr>
            </a:lvl5pPr>
            <a:lvl6pPr>
              <a:defRPr sz="1950" b="0">
                <a:solidFill>
                  <a:srgbClr val="B53B24"/>
                </a:solidFill>
                <a:latin typeface="Arial"/>
                <a:ea typeface="Arial"/>
                <a:cs typeface="Arial"/>
              </a:defRPr>
            </a:lvl6pPr>
            <a:lvl7pPr>
              <a:defRPr sz="1950" b="0">
                <a:solidFill>
                  <a:srgbClr val="B53B24"/>
                </a:solidFill>
                <a:latin typeface="Arial"/>
                <a:ea typeface="Arial"/>
                <a:cs typeface="Arial"/>
              </a:defRPr>
            </a:lvl7pPr>
            <a:lvl8pPr>
              <a:defRPr sz="1950" b="0">
                <a:solidFill>
                  <a:srgbClr val="B53B24"/>
                </a:solidFill>
                <a:latin typeface="Arial"/>
                <a:ea typeface="Arial"/>
                <a:cs typeface="Arial"/>
              </a:defRPr>
            </a:lvl8pPr>
            <a:lvl9pPr>
              <a:defRPr sz="1950" b="0">
                <a:solidFill>
                  <a:srgbClr val="B53B24"/>
                </a:solidFill>
                <a:latin typeface="Arial"/>
                <a:ea typeface="Arial"/>
                <a:cs typeface="Arial"/>
              </a:defRPr>
            </a:lvl9pPr>
          </a:lstStyle>
          <a:p xmlns:a="http://schemas.openxmlformats.org/drawingml/2006/main">
            <a:pPr>
              <a:defRPr sz="1950" b="0">
                <a:solidFill>
                  <a:srgbClr val="B53B24"/>
                </a:solidFill>
                <a:latin typeface="Arial"/>
                <a:ea typeface="Arial"/>
                <a:cs typeface="Arial"/>
              </a:defRPr>
            </a:pPr>
            <a:r>
              <a:rPr sz="1950" b="0">
                <a:solidFill>
                  <a:srgbClr val="B53B24"/>
                </a:solidFill>
                <a:latin typeface="Arial"/>
                <a:ea typeface="Arial"/>
                <a:cs typeface="Arial"/>
              </a:rPr>
              <a:t>MUSD repaid</a:t>
            </a:r>
          </a:p>
        </p:txBody>
      </p:sp>
      <p:sp>
        <p:nvSpPr>
          <p:cNvPr id="13" name="">
            <a:extLst xmlns:a="http://schemas.openxmlformats.org/drawingml/2006/main">
              <a:ext uri="{FF2B5EF4-FFF2-40B4-BE49-F238E27FC236}">
                <a16:creationId xmlns:a16="http://schemas.microsoft.com/office/drawing/2014/main" id="{CCECFE65-1285-40D4-BC98-7320CB73B525}"/>
              </a:ext>
            </a:extLst>
          </p:cNvPr>
          <p:cNvSpPr>
            <a:spLocks xmlns:a="http://schemas.openxmlformats.org/drawingml/2006/main" noGrp="1"/>
          </p:cNvSpPr>
          <p:nvPr/>
        </p:nvSpPr>
        <p:spPr>
          <a:xfrm xmlns:a="http://schemas.openxmlformats.org/drawingml/2006/main">
            <a:off x="8267700" y="3848100"/>
            <a:ext cx="3238500" cy="4762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A32BC6-8598-4909-BE06-3E38F05E9AA3}"/>
              </a:ext>
            </a:extLst>
          </p:cNvPr>
          <p:cNvSpPr>
            <a:spLocks xmlns:a="http://schemas.openxmlformats.org/drawingml/2006/main" noGrp="1"/>
          </p:cNvSpPr>
          <p:nvPr/>
        </p:nvSpPr>
        <p:spPr>
          <a:xfrm xmlns:a="http://schemas.openxmlformats.org/drawingml/2006/main">
            <a:off x="609600" y="4400550"/>
            <a:ext cx="10620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4251F"/>
                </a:solidFill>
                <a:latin typeface="Arial"/>
                <a:ea typeface="Arial"/>
                <a:cs typeface="Arial"/>
              </a:defRPr>
            </a:defPPr>
            <a:lvl1pPr>
              <a:defRPr sz="2250" b="0">
                <a:solidFill>
                  <a:srgbClr val="24251F"/>
                </a:solidFill>
                <a:latin typeface="Arial"/>
                <a:ea typeface="Arial"/>
                <a:cs typeface="Arial"/>
              </a:defRPr>
            </a:lvl1pPr>
            <a:lvl2pPr>
              <a:defRPr sz="2250" b="0">
                <a:solidFill>
                  <a:srgbClr val="24251F"/>
                </a:solidFill>
                <a:latin typeface="Arial"/>
                <a:ea typeface="Arial"/>
                <a:cs typeface="Arial"/>
              </a:defRPr>
            </a:lvl2pPr>
            <a:lvl3pPr>
              <a:defRPr sz="2250" b="0">
                <a:solidFill>
                  <a:srgbClr val="24251F"/>
                </a:solidFill>
                <a:latin typeface="Arial"/>
                <a:ea typeface="Arial"/>
                <a:cs typeface="Arial"/>
              </a:defRPr>
            </a:lvl3pPr>
            <a:lvl4pPr>
              <a:defRPr sz="2250" b="0">
                <a:solidFill>
                  <a:srgbClr val="24251F"/>
                </a:solidFill>
                <a:latin typeface="Arial"/>
                <a:ea typeface="Arial"/>
                <a:cs typeface="Arial"/>
              </a:defRPr>
            </a:lvl4pPr>
            <a:lvl5pPr>
              <a:defRPr sz="2250" b="0">
                <a:solidFill>
                  <a:srgbClr val="24251F"/>
                </a:solidFill>
                <a:latin typeface="Arial"/>
                <a:ea typeface="Arial"/>
                <a:cs typeface="Arial"/>
              </a:defRPr>
            </a:lvl5pPr>
            <a:lvl6pPr>
              <a:defRPr sz="2250" b="0">
                <a:solidFill>
                  <a:srgbClr val="24251F"/>
                </a:solidFill>
                <a:latin typeface="Arial"/>
                <a:ea typeface="Arial"/>
                <a:cs typeface="Arial"/>
              </a:defRPr>
            </a:lvl6pPr>
            <a:lvl7pPr>
              <a:defRPr sz="2250" b="0">
                <a:solidFill>
                  <a:srgbClr val="24251F"/>
                </a:solidFill>
                <a:latin typeface="Arial"/>
                <a:ea typeface="Arial"/>
                <a:cs typeface="Arial"/>
              </a:defRPr>
            </a:lvl7pPr>
            <a:lvl8pPr>
              <a:defRPr sz="2250" b="0">
                <a:solidFill>
                  <a:srgbClr val="24251F"/>
                </a:solidFill>
                <a:latin typeface="Arial"/>
                <a:ea typeface="Arial"/>
                <a:cs typeface="Arial"/>
              </a:defRPr>
            </a:lvl8pPr>
            <a:lvl9pPr>
              <a:defRPr sz="2250" b="0">
                <a:solidFill>
                  <a:srgbClr val="24251F"/>
                </a:solidFill>
                <a:latin typeface="Arial"/>
                <a:ea typeface="Arial"/>
                <a:cs typeface="Arial"/>
              </a:defRPr>
            </a:lvl9pPr>
          </a:lstStyle>
          <a:p xmlns:a="http://schemas.openxmlformats.org/drawingml/2006/main">
            <a:pPr>
              <a:defRPr sz="2250" b="0">
                <a:solidFill>
                  <a:srgbClr val="24251F"/>
                </a:solidFill>
                <a:latin typeface="Arial"/>
                <a:ea typeface="Arial"/>
                <a:cs typeface="Arial"/>
              </a:defRPr>
            </a:pPr>
            <a:r>
              <a:rPr sz="2250" b="0">
                <a:solidFill>
                  <a:srgbClr val="24251F"/>
                </a:solidFill>
                <a:latin typeface="Arial"/>
                <a:ea typeface="Arial"/>
                <a:cs typeface="Arial"/>
              </a:rPr>
              <a:t>A separate sample customer paid the invoice. Settlement reduced the business account’s native loan debt and burned the matching MUSD.</a:t>
            </a:r>
          </a:p>
        </p:txBody>
      </p:sp>
      <p:sp>
        <p:nvSpPr>
          <p:cNvPr id="15" name="">
            <a:extLst xmlns:a="http://schemas.openxmlformats.org/drawingml/2006/main">
              <a:ext uri="{FF2B5EF4-FFF2-40B4-BE49-F238E27FC236}">
                <a16:creationId xmlns:a16="http://schemas.microsoft.com/office/drawing/2014/main" id="{8D546244-4FA3-4048-8444-704A903F5A8E}"/>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Historical public testnet integration proof. Sample customer funds came from the test loan</a:t>
            </a:r>
          </a:p>
        </p:txBody>
      </p:sp>
    </p:spTree>
    <p:extLst>
      <p:ext uri="{BB962C8B-B14F-4D97-AF65-F5344CB8AC3E}">
        <p14:creationId xmlns:p14="http://schemas.microsoft.com/office/powerpoint/2010/main" val="1786121649"/>
      </p:ext>
    </p:extLst>
  </p:cSld>
</p:sld>
</file>

<file path=ppt/slides/slide6.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E33804-00B1-47EF-9C1A-73AC7484B12A}"/>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804F1A-518B-4398-813E-8335A7A82A03}"/>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F580BB39-12DE-4EF5-B348-7CF78852CE93}"/>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8EBB116-5F3D-4168-8775-91D958FB8C41}"/>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The owner controls the operating room</a:t>
            </a:r>
          </a:p>
        </p:txBody>
      </p:sp>
      <p:sp>
        <p:nvSpPr>
          <p:cNvPr id="5" name="">
            <a:extLst xmlns:a="http://schemas.openxmlformats.org/drawingml/2006/main">
              <a:ext uri="{FF2B5EF4-FFF2-40B4-BE49-F238E27FC236}">
                <a16:creationId xmlns:a16="http://schemas.microsoft.com/office/drawing/2014/main" id="{C5F32D26-CD42-48C5-83B7-9E68737AF55A}"/>
              </a:ext>
            </a:extLst>
          </p:cNvPr>
          <p:cNvSpPr>
            <a:spLocks xmlns:a="http://schemas.openxmlformats.org/drawingml/2006/main" noGrp="1"/>
          </p:cNvSpPr>
          <p:nvPr/>
        </p:nvSpPr>
        <p:spPr>
          <a:xfrm xmlns:a="http://schemas.openxmlformats.org/drawingml/2006/main">
            <a:off x="609600" y="2190750"/>
            <a:ext cx="114300" cy="82867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35DC69-2C61-45F4-8A45-CD8459AE504F}"/>
              </a:ext>
            </a:extLst>
          </p:cNvPr>
          <p:cNvSpPr>
            <a:spLocks xmlns:a="http://schemas.openxmlformats.org/drawingml/2006/main" noGrp="1"/>
          </p:cNvSpPr>
          <p:nvPr/>
        </p:nvSpPr>
        <p:spPr>
          <a:xfrm xmlns:a="http://schemas.openxmlformats.org/drawingml/2006/main">
            <a:off x="990600" y="21907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24251F"/>
                </a:solidFill>
                <a:latin typeface="Georgia"/>
                <a:ea typeface="Georgia"/>
                <a:cs typeface="Georgia"/>
              </a:defRPr>
            </a:defPPr>
            <a:lvl1pPr>
              <a:defRPr sz="2625" b="0">
                <a:solidFill>
                  <a:srgbClr val="24251F"/>
                </a:solidFill>
                <a:latin typeface="Georgia"/>
                <a:ea typeface="Georgia"/>
                <a:cs typeface="Georgia"/>
              </a:defRPr>
            </a:lvl1pPr>
            <a:lvl2pPr>
              <a:defRPr sz="2625" b="0">
                <a:solidFill>
                  <a:srgbClr val="24251F"/>
                </a:solidFill>
                <a:latin typeface="Georgia"/>
                <a:ea typeface="Georgia"/>
                <a:cs typeface="Georgia"/>
              </a:defRPr>
            </a:lvl2pPr>
            <a:lvl3pPr>
              <a:defRPr sz="2625" b="0">
                <a:solidFill>
                  <a:srgbClr val="24251F"/>
                </a:solidFill>
                <a:latin typeface="Georgia"/>
                <a:ea typeface="Georgia"/>
                <a:cs typeface="Georgia"/>
              </a:defRPr>
            </a:lvl3pPr>
            <a:lvl4pPr>
              <a:defRPr sz="2625" b="0">
                <a:solidFill>
                  <a:srgbClr val="24251F"/>
                </a:solidFill>
                <a:latin typeface="Georgia"/>
                <a:ea typeface="Georgia"/>
                <a:cs typeface="Georgia"/>
              </a:defRPr>
            </a:lvl4pPr>
            <a:lvl5pPr>
              <a:defRPr sz="2625" b="0">
                <a:solidFill>
                  <a:srgbClr val="24251F"/>
                </a:solidFill>
                <a:latin typeface="Georgia"/>
                <a:ea typeface="Georgia"/>
                <a:cs typeface="Georgia"/>
              </a:defRPr>
            </a:lvl5pPr>
            <a:lvl6pPr>
              <a:defRPr sz="2625" b="0">
                <a:solidFill>
                  <a:srgbClr val="24251F"/>
                </a:solidFill>
                <a:latin typeface="Georgia"/>
                <a:ea typeface="Georgia"/>
                <a:cs typeface="Georgia"/>
              </a:defRPr>
            </a:lvl6pPr>
            <a:lvl7pPr>
              <a:defRPr sz="2625" b="0">
                <a:solidFill>
                  <a:srgbClr val="24251F"/>
                </a:solidFill>
                <a:latin typeface="Georgia"/>
                <a:ea typeface="Georgia"/>
                <a:cs typeface="Georgia"/>
              </a:defRPr>
            </a:lvl7pPr>
            <a:lvl8pPr>
              <a:defRPr sz="2625" b="0">
                <a:solidFill>
                  <a:srgbClr val="24251F"/>
                </a:solidFill>
                <a:latin typeface="Georgia"/>
                <a:ea typeface="Georgia"/>
                <a:cs typeface="Georgia"/>
              </a:defRPr>
            </a:lvl8pPr>
            <a:lvl9pPr>
              <a:defRPr sz="2625" b="0">
                <a:solidFill>
                  <a:srgbClr val="24251F"/>
                </a:solidFill>
                <a:latin typeface="Georgia"/>
                <a:ea typeface="Georgia"/>
                <a:cs typeface="Georgia"/>
              </a:defRPr>
            </a:lvl9pPr>
          </a:lstStyle>
          <a:p xmlns:a="http://schemas.openxmlformats.org/drawingml/2006/main">
            <a:pPr>
              <a:defRPr sz="2625" b="0">
                <a:solidFill>
                  <a:srgbClr val="24251F"/>
                </a:solidFill>
                <a:latin typeface="Georgia"/>
                <a:ea typeface="Georgia"/>
                <a:cs typeface="Georgia"/>
              </a:defRPr>
            </a:pPr>
            <a:r>
              <a:rPr sz="2625" b="0">
                <a:solidFill>
                  <a:srgbClr val="24251F"/>
                </a:solidFill>
                <a:latin typeface="Georgia"/>
                <a:ea typeface="Georgia"/>
                <a:cs typeface="Georgia"/>
              </a:rPr>
              <a:t>Repayment share</a:t>
            </a:r>
          </a:p>
        </p:txBody>
      </p:sp>
      <p:sp>
        <p:nvSpPr>
          <p:cNvPr id="7" name="">
            <a:extLst xmlns:a="http://schemas.openxmlformats.org/drawingml/2006/main">
              <a:ext uri="{FF2B5EF4-FFF2-40B4-BE49-F238E27FC236}">
                <a16:creationId xmlns:a16="http://schemas.microsoft.com/office/drawing/2014/main" id="{0A00A42D-8E94-4C44-A567-70B5410B1308}"/>
              </a:ext>
            </a:extLst>
          </p:cNvPr>
          <p:cNvSpPr>
            <a:spLocks xmlns:a="http://schemas.openxmlformats.org/drawingml/2006/main" noGrp="1"/>
          </p:cNvSpPr>
          <p:nvPr/>
        </p:nvSpPr>
        <p:spPr>
          <a:xfrm xmlns:a="http://schemas.openxmlformats.org/drawingml/2006/main">
            <a:off x="5048250" y="222885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Choose how much of each final payment goes toward debt.</a:t>
            </a:r>
          </a:p>
        </p:txBody>
      </p:sp>
      <p:sp>
        <p:nvSpPr>
          <p:cNvPr id="8" name="">
            <a:extLst xmlns:a="http://schemas.openxmlformats.org/drawingml/2006/main">
              <a:ext uri="{FF2B5EF4-FFF2-40B4-BE49-F238E27FC236}">
                <a16:creationId xmlns:a16="http://schemas.microsoft.com/office/drawing/2014/main" id="{4D9ECD1D-B3EE-4DB7-9498-A0758306C8D5}"/>
              </a:ext>
            </a:extLst>
          </p:cNvPr>
          <p:cNvSpPr>
            <a:spLocks xmlns:a="http://schemas.openxmlformats.org/drawingml/2006/main" noGrp="1"/>
          </p:cNvSpPr>
          <p:nvPr/>
        </p:nvSpPr>
        <p:spPr>
          <a:xfrm xmlns:a="http://schemas.openxmlformats.org/drawingml/2006/main">
            <a:off x="609600" y="3390900"/>
            <a:ext cx="114300" cy="82867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9801BBB-5AEA-4025-8B11-508881A3C325}"/>
              </a:ext>
            </a:extLst>
          </p:cNvPr>
          <p:cNvSpPr>
            <a:spLocks xmlns:a="http://schemas.openxmlformats.org/drawingml/2006/main" noGrp="1"/>
          </p:cNvSpPr>
          <p:nvPr/>
        </p:nvSpPr>
        <p:spPr>
          <a:xfrm xmlns:a="http://schemas.openxmlformats.org/drawingml/2006/main">
            <a:off x="990600" y="33909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24251F"/>
                </a:solidFill>
                <a:latin typeface="Georgia"/>
                <a:ea typeface="Georgia"/>
                <a:cs typeface="Georgia"/>
              </a:defRPr>
            </a:defPPr>
            <a:lvl1pPr>
              <a:defRPr sz="2625" b="0">
                <a:solidFill>
                  <a:srgbClr val="24251F"/>
                </a:solidFill>
                <a:latin typeface="Georgia"/>
                <a:ea typeface="Georgia"/>
                <a:cs typeface="Georgia"/>
              </a:defRPr>
            </a:lvl1pPr>
            <a:lvl2pPr>
              <a:defRPr sz="2625" b="0">
                <a:solidFill>
                  <a:srgbClr val="24251F"/>
                </a:solidFill>
                <a:latin typeface="Georgia"/>
                <a:ea typeface="Georgia"/>
                <a:cs typeface="Georgia"/>
              </a:defRPr>
            </a:lvl2pPr>
            <a:lvl3pPr>
              <a:defRPr sz="2625" b="0">
                <a:solidFill>
                  <a:srgbClr val="24251F"/>
                </a:solidFill>
                <a:latin typeface="Georgia"/>
                <a:ea typeface="Georgia"/>
                <a:cs typeface="Georgia"/>
              </a:defRPr>
            </a:lvl3pPr>
            <a:lvl4pPr>
              <a:defRPr sz="2625" b="0">
                <a:solidFill>
                  <a:srgbClr val="24251F"/>
                </a:solidFill>
                <a:latin typeface="Georgia"/>
                <a:ea typeface="Georgia"/>
                <a:cs typeface="Georgia"/>
              </a:defRPr>
            </a:lvl4pPr>
            <a:lvl5pPr>
              <a:defRPr sz="2625" b="0">
                <a:solidFill>
                  <a:srgbClr val="24251F"/>
                </a:solidFill>
                <a:latin typeface="Georgia"/>
                <a:ea typeface="Georgia"/>
                <a:cs typeface="Georgia"/>
              </a:defRPr>
            </a:lvl5pPr>
            <a:lvl6pPr>
              <a:defRPr sz="2625" b="0">
                <a:solidFill>
                  <a:srgbClr val="24251F"/>
                </a:solidFill>
                <a:latin typeface="Georgia"/>
                <a:ea typeface="Georgia"/>
                <a:cs typeface="Georgia"/>
              </a:defRPr>
            </a:lvl6pPr>
            <a:lvl7pPr>
              <a:defRPr sz="2625" b="0">
                <a:solidFill>
                  <a:srgbClr val="24251F"/>
                </a:solidFill>
                <a:latin typeface="Georgia"/>
                <a:ea typeface="Georgia"/>
                <a:cs typeface="Georgia"/>
              </a:defRPr>
            </a:lvl7pPr>
            <a:lvl8pPr>
              <a:defRPr sz="2625" b="0">
                <a:solidFill>
                  <a:srgbClr val="24251F"/>
                </a:solidFill>
                <a:latin typeface="Georgia"/>
                <a:ea typeface="Georgia"/>
                <a:cs typeface="Georgia"/>
              </a:defRPr>
            </a:lvl8pPr>
            <a:lvl9pPr>
              <a:defRPr sz="2625" b="0">
                <a:solidFill>
                  <a:srgbClr val="24251F"/>
                </a:solidFill>
                <a:latin typeface="Georgia"/>
                <a:ea typeface="Georgia"/>
                <a:cs typeface="Georgia"/>
              </a:defRPr>
            </a:lvl9pPr>
          </a:lstStyle>
          <a:p xmlns:a="http://schemas.openxmlformats.org/drawingml/2006/main">
            <a:pPr>
              <a:defRPr sz="2625" b="0">
                <a:solidFill>
                  <a:srgbClr val="24251F"/>
                </a:solidFill>
                <a:latin typeface="Georgia"/>
                <a:ea typeface="Georgia"/>
                <a:cs typeface="Georgia"/>
              </a:defRPr>
            </a:pPr>
            <a:r>
              <a:rPr sz="2625" b="0">
                <a:solidFill>
                  <a:srgbClr val="24251F"/>
                </a:solidFill>
                <a:latin typeface="Georgia"/>
                <a:ea typeface="Georgia"/>
                <a:cs typeface="Georgia"/>
              </a:rPr>
              <a:t>Cash floor</a:t>
            </a:r>
          </a:p>
        </p:txBody>
      </p:sp>
      <p:sp>
        <p:nvSpPr>
          <p:cNvPr id="10" name="">
            <a:extLst xmlns:a="http://schemas.openxmlformats.org/drawingml/2006/main">
              <a:ext uri="{FF2B5EF4-FFF2-40B4-BE49-F238E27FC236}">
                <a16:creationId xmlns:a16="http://schemas.microsoft.com/office/drawing/2014/main" id="{277F3622-806A-4736-8D62-5CCF367C896F}"/>
              </a:ext>
            </a:extLst>
          </p:cNvPr>
          <p:cNvSpPr>
            <a:spLocks xmlns:a="http://schemas.openxmlformats.org/drawingml/2006/main" noGrp="1"/>
          </p:cNvSpPr>
          <p:nvPr/>
        </p:nvSpPr>
        <p:spPr>
          <a:xfrm xmlns:a="http://schemas.openxmlformats.org/drawingml/2006/main">
            <a:off x="5048250" y="34290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Reserve a minimum balance for operating expenses.</a:t>
            </a:r>
          </a:p>
        </p:txBody>
      </p:sp>
      <p:sp>
        <p:nvSpPr>
          <p:cNvPr id="11" name="">
            <a:extLst xmlns:a="http://schemas.openxmlformats.org/drawingml/2006/main">
              <a:ext uri="{FF2B5EF4-FFF2-40B4-BE49-F238E27FC236}">
                <a16:creationId xmlns:a16="http://schemas.microsoft.com/office/drawing/2014/main" id="{6EB2B368-F6D4-47A7-8F80-A919973EAA0C}"/>
              </a:ext>
            </a:extLst>
          </p:cNvPr>
          <p:cNvSpPr>
            <a:spLocks xmlns:a="http://schemas.openxmlformats.org/drawingml/2006/main" noGrp="1"/>
          </p:cNvSpPr>
          <p:nvPr/>
        </p:nvSpPr>
        <p:spPr>
          <a:xfrm xmlns:a="http://schemas.openxmlformats.org/drawingml/2006/main">
            <a:off x="609600" y="4591050"/>
            <a:ext cx="114300" cy="82867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067A32F-E7B0-4A6B-957F-85167E677D5F}"/>
              </a:ext>
            </a:extLst>
          </p:cNvPr>
          <p:cNvSpPr>
            <a:spLocks xmlns:a="http://schemas.openxmlformats.org/drawingml/2006/main" noGrp="1"/>
          </p:cNvSpPr>
          <p:nvPr/>
        </p:nvSpPr>
        <p:spPr>
          <a:xfrm xmlns:a="http://schemas.openxmlformats.org/drawingml/2006/main">
            <a:off x="990600" y="45910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24251F"/>
                </a:solidFill>
                <a:latin typeface="Georgia"/>
                <a:ea typeface="Georgia"/>
                <a:cs typeface="Georgia"/>
              </a:defRPr>
            </a:defPPr>
            <a:lvl1pPr>
              <a:defRPr sz="2625" b="0">
                <a:solidFill>
                  <a:srgbClr val="24251F"/>
                </a:solidFill>
                <a:latin typeface="Georgia"/>
                <a:ea typeface="Georgia"/>
                <a:cs typeface="Georgia"/>
              </a:defRPr>
            </a:lvl1pPr>
            <a:lvl2pPr>
              <a:defRPr sz="2625" b="0">
                <a:solidFill>
                  <a:srgbClr val="24251F"/>
                </a:solidFill>
                <a:latin typeface="Georgia"/>
                <a:ea typeface="Georgia"/>
                <a:cs typeface="Georgia"/>
              </a:defRPr>
            </a:lvl2pPr>
            <a:lvl3pPr>
              <a:defRPr sz="2625" b="0">
                <a:solidFill>
                  <a:srgbClr val="24251F"/>
                </a:solidFill>
                <a:latin typeface="Georgia"/>
                <a:ea typeface="Georgia"/>
                <a:cs typeface="Georgia"/>
              </a:defRPr>
            </a:lvl3pPr>
            <a:lvl4pPr>
              <a:defRPr sz="2625" b="0">
                <a:solidFill>
                  <a:srgbClr val="24251F"/>
                </a:solidFill>
                <a:latin typeface="Georgia"/>
                <a:ea typeface="Georgia"/>
                <a:cs typeface="Georgia"/>
              </a:defRPr>
            </a:lvl4pPr>
            <a:lvl5pPr>
              <a:defRPr sz="2625" b="0">
                <a:solidFill>
                  <a:srgbClr val="24251F"/>
                </a:solidFill>
                <a:latin typeface="Georgia"/>
                <a:ea typeface="Georgia"/>
                <a:cs typeface="Georgia"/>
              </a:defRPr>
            </a:lvl5pPr>
            <a:lvl6pPr>
              <a:defRPr sz="2625" b="0">
                <a:solidFill>
                  <a:srgbClr val="24251F"/>
                </a:solidFill>
                <a:latin typeface="Georgia"/>
                <a:ea typeface="Georgia"/>
                <a:cs typeface="Georgia"/>
              </a:defRPr>
            </a:lvl6pPr>
            <a:lvl7pPr>
              <a:defRPr sz="2625" b="0">
                <a:solidFill>
                  <a:srgbClr val="24251F"/>
                </a:solidFill>
                <a:latin typeface="Georgia"/>
                <a:ea typeface="Georgia"/>
                <a:cs typeface="Georgia"/>
              </a:defRPr>
            </a:lvl7pPr>
            <a:lvl8pPr>
              <a:defRPr sz="2625" b="0">
                <a:solidFill>
                  <a:srgbClr val="24251F"/>
                </a:solidFill>
                <a:latin typeface="Georgia"/>
                <a:ea typeface="Georgia"/>
                <a:cs typeface="Georgia"/>
              </a:defRPr>
            </a:lvl8pPr>
            <a:lvl9pPr>
              <a:defRPr sz="2625" b="0">
                <a:solidFill>
                  <a:srgbClr val="24251F"/>
                </a:solidFill>
                <a:latin typeface="Georgia"/>
                <a:ea typeface="Georgia"/>
                <a:cs typeface="Georgia"/>
              </a:defRPr>
            </a:lvl9pPr>
          </a:lstStyle>
          <a:p xmlns:a="http://schemas.openxmlformats.org/drawingml/2006/main">
            <a:pPr>
              <a:defRPr sz="2625" b="0">
                <a:solidFill>
                  <a:srgbClr val="24251F"/>
                </a:solidFill>
                <a:latin typeface="Georgia"/>
                <a:ea typeface="Georgia"/>
                <a:cs typeface="Georgia"/>
              </a:defRPr>
            </a:pPr>
            <a:r>
              <a:rPr sz="2625" b="0">
                <a:solidFill>
                  <a:srgbClr val="24251F"/>
                </a:solidFill>
                <a:latin typeface="Georgia"/>
                <a:ea typeface="Georgia"/>
                <a:cs typeface="Georgia"/>
              </a:rPr>
              <a:t>Pause or close</a:t>
            </a:r>
          </a:p>
        </p:txBody>
      </p:sp>
      <p:sp>
        <p:nvSpPr>
          <p:cNvPr id="13" name="">
            <a:extLst xmlns:a="http://schemas.openxmlformats.org/drawingml/2006/main">
              <a:ext uri="{FF2B5EF4-FFF2-40B4-BE49-F238E27FC236}">
                <a16:creationId xmlns:a16="http://schemas.microsoft.com/office/drawing/2014/main" id="{89FEE545-B44C-4C8A-96ED-2CDE662ADD98}"/>
              </a:ext>
            </a:extLst>
          </p:cNvPr>
          <p:cNvSpPr>
            <a:spLocks xmlns:a="http://schemas.openxmlformats.org/drawingml/2006/main" noGrp="1"/>
          </p:cNvSpPr>
          <p:nvPr/>
        </p:nvSpPr>
        <p:spPr>
          <a:xfrm xmlns:a="http://schemas.openxmlformats.org/drawingml/2006/main">
            <a:off x="5048250" y="462915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251F"/>
                </a:solidFill>
                <a:latin typeface="Arial"/>
                <a:ea typeface="Arial"/>
                <a:cs typeface="Arial"/>
              </a:defRPr>
            </a:defPPr>
            <a:lvl1pPr>
              <a:defRPr sz="2100" b="0">
                <a:solidFill>
                  <a:srgbClr val="24251F"/>
                </a:solidFill>
                <a:latin typeface="Arial"/>
                <a:ea typeface="Arial"/>
                <a:cs typeface="Arial"/>
              </a:defRPr>
            </a:lvl1pPr>
            <a:lvl2pPr>
              <a:defRPr sz="2100" b="0">
                <a:solidFill>
                  <a:srgbClr val="24251F"/>
                </a:solidFill>
                <a:latin typeface="Arial"/>
                <a:ea typeface="Arial"/>
                <a:cs typeface="Arial"/>
              </a:defRPr>
            </a:lvl2pPr>
            <a:lvl3pPr>
              <a:defRPr sz="2100" b="0">
                <a:solidFill>
                  <a:srgbClr val="24251F"/>
                </a:solidFill>
                <a:latin typeface="Arial"/>
                <a:ea typeface="Arial"/>
                <a:cs typeface="Arial"/>
              </a:defRPr>
            </a:lvl3pPr>
            <a:lvl4pPr>
              <a:defRPr sz="2100" b="0">
                <a:solidFill>
                  <a:srgbClr val="24251F"/>
                </a:solidFill>
                <a:latin typeface="Arial"/>
                <a:ea typeface="Arial"/>
                <a:cs typeface="Arial"/>
              </a:defRPr>
            </a:lvl4pPr>
            <a:lvl5pPr>
              <a:defRPr sz="2100" b="0">
                <a:solidFill>
                  <a:srgbClr val="24251F"/>
                </a:solidFill>
                <a:latin typeface="Arial"/>
                <a:ea typeface="Arial"/>
                <a:cs typeface="Arial"/>
              </a:defRPr>
            </a:lvl5pPr>
            <a:lvl6pPr>
              <a:defRPr sz="2100" b="0">
                <a:solidFill>
                  <a:srgbClr val="24251F"/>
                </a:solidFill>
                <a:latin typeface="Arial"/>
                <a:ea typeface="Arial"/>
                <a:cs typeface="Arial"/>
              </a:defRPr>
            </a:lvl6pPr>
            <a:lvl7pPr>
              <a:defRPr sz="2100" b="0">
                <a:solidFill>
                  <a:srgbClr val="24251F"/>
                </a:solidFill>
                <a:latin typeface="Arial"/>
                <a:ea typeface="Arial"/>
                <a:cs typeface="Arial"/>
              </a:defRPr>
            </a:lvl7pPr>
            <a:lvl8pPr>
              <a:defRPr sz="2100" b="0">
                <a:solidFill>
                  <a:srgbClr val="24251F"/>
                </a:solidFill>
                <a:latin typeface="Arial"/>
                <a:ea typeface="Arial"/>
                <a:cs typeface="Arial"/>
              </a:defRPr>
            </a:lvl8pPr>
            <a:lvl9pPr>
              <a:defRPr sz="2100" b="0">
                <a:solidFill>
                  <a:srgbClr val="24251F"/>
                </a:solidFill>
                <a:latin typeface="Arial"/>
                <a:ea typeface="Arial"/>
                <a:cs typeface="Arial"/>
              </a:defRPr>
            </a:lvl9pPr>
          </a:lstStyle>
          <a:p xmlns:a="http://schemas.openxmlformats.org/drawingml/2006/main">
            <a:pPr>
              <a:defRPr sz="2100" b="0">
                <a:solidFill>
                  <a:srgbClr val="24251F"/>
                </a:solidFill>
                <a:latin typeface="Arial"/>
                <a:ea typeface="Arial"/>
                <a:cs typeface="Arial"/>
              </a:defRPr>
            </a:pPr>
            <a:r>
              <a:rPr sz="2100" b="0">
                <a:solidFill>
                  <a:srgbClr val="24251F"/>
                </a:solidFill>
                <a:latin typeface="Arial"/>
                <a:ea typeface="Arial"/>
                <a:cs typeface="Arial"/>
              </a:rPr>
              <a:t>Pause future allocation, top up, close the loan and recover BTC.</a:t>
            </a:r>
          </a:p>
        </p:txBody>
      </p:sp>
      <p:sp>
        <p:nvSpPr>
          <p:cNvPr id="14" name="">
            <a:extLst xmlns:a="http://schemas.openxmlformats.org/drawingml/2006/main">
              <a:ext uri="{FF2B5EF4-FFF2-40B4-BE49-F238E27FC236}">
                <a16:creationId xmlns:a16="http://schemas.microsoft.com/office/drawing/2014/main" id="{7DC3BA79-9803-4B59-9B41-7B3C6181D27D}"/>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BTC collateral remains exposed to the underlying protocol’s liquidation and redemption mechanics</a:t>
            </a:r>
          </a:p>
        </p:txBody>
      </p:sp>
    </p:spTree>
    <p:extLst>
      <p:ext uri="{BB962C8B-B14F-4D97-AF65-F5344CB8AC3E}">
        <p14:creationId xmlns:p14="http://schemas.microsoft.com/office/powerpoint/2010/main" val="1627743154"/>
      </p:ext>
    </p:extLst>
  </p:cSld>
</p:sld>
</file>

<file path=ppt/slides/slide7.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F94E79-CAB1-40DD-89E7-58F575DF1029}"/>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2425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D2D356-5668-4AA2-8251-D067328BA45E}"/>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24251F"/>
                </a:solidFill>
                <a:latin typeface="Arial"/>
                <a:ea typeface="Arial"/>
                <a:cs typeface="Arial"/>
              </a:defRPr>
            </a:defPPr>
            <a:lvl1pPr>
              <a:defRPr sz="975" b="1">
                <a:solidFill>
                  <a:srgbClr val="24251F"/>
                </a:solidFill>
                <a:latin typeface="Arial"/>
                <a:ea typeface="Arial"/>
                <a:cs typeface="Arial"/>
              </a:defRPr>
            </a:lvl1pPr>
            <a:lvl2pPr>
              <a:defRPr sz="975" b="1">
                <a:solidFill>
                  <a:srgbClr val="24251F"/>
                </a:solidFill>
                <a:latin typeface="Arial"/>
                <a:ea typeface="Arial"/>
                <a:cs typeface="Arial"/>
              </a:defRPr>
            </a:lvl2pPr>
            <a:lvl3pPr>
              <a:defRPr sz="975" b="1">
                <a:solidFill>
                  <a:srgbClr val="24251F"/>
                </a:solidFill>
                <a:latin typeface="Arial"/>
                <a:ea typeface="Arial"/>
                <a:cs typeface="Arial"/>
              </a:defRPr>
            </a:lvl3pPr>
            <a:lvl4pPr>
              <a:defRPr sz="975" b="1">
                <a:solidFill>
                  <a:srgbClr val="24251F"/>
                </a:solidFill>
                <a:latin typeface="Arial"/>
                <a:ea typeface="Arial"/>
                <a:cs typeface="Arial"/>
              </a:defRPr>
            </a:lvl4pPr>
            <a:lvl5pPr>
              <a:defRPr sz="975" b="1">
                <a:solidFill>
                  <a:srgbClr val="24251F"/>
                </a:solidFill>
                <a:latin typeface="Arial"/>
                <a:ea typeface="Arial"/>
                <a:cs typeface="Arial"/>
              </a:defRPr>
            </a:lvl5pPr>
            <a:lvl6pPr>
              <a:defRPr sz="975" b="1">
                <a:solidFill>
                  <a:srgbClr val="24251F"/>
                </a:solidFill>
                <a:latin typeface="Arial"/>
                <a:ea typeface="Arial"/>
                <a:cs typeface="Arial"/>
              </a:defRPr>
            </a:lvl6pPr>
            <a:lvl7pPr>
              <a:defRPr sz="975" b="1">
                <a:solidFill>
                  <a:srgbClr val="24251F"/>
                </a:solidFill>
                <a:latin typeface="Arial"/>
                <a:ea typeface="Arial"/>
                <a:cs typeface="Arial"/>
              </a:defRPr>
            </a:lvl7pPr>
            <a:lvl8pPr>
              <a:defRPr sz="975" b="1">
                <a:solidFill>
                  <a:srgbClr val="24251F"/>
                </a:solidFill>
                <a:latin typeface="Arial"/>
                <a:ea typeface="Arial"/>
                <a:cs typeface="Arial"/>
              </a:defRPr>
            </a:lvl8pPr>
            <a:lvl9pPr>
              <a:defRPr sz="975" b="1">
                <a:solidFill>
                  <a:srgbClr val="24251F"/>
                </a:solidFill>
                <a:latin typeface="Arial"/>
                <a:ea typeface="Arial"/>
                <a:cs typeface="Arial"/>
              </a:defRPr>
            </a:lvl9pPr>
          </a:lstStyle>
          <a:p xmlns:a="http://schemas.openxmlformats.org/drawingml/2006/main">
            <a:pPr>
              <a:defRPr sz="975" b="1">
                <a:solidFill>
                  <a:srgbClr val="24251F"/>
                </a:solidFill>
                <a:latin typeface="Arial"/>
                <a:ea typeface="Arial"/>
                <a:cs typeface="Arial"/>
              </a:defRPr>
            </a:pPr>
            <a:r>
              <a:rPr sz="975" b="1">
                <a:solidFill>
                  <a:srgbClr val="24251F"/>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6349E1A1-690C-48C2-9A27-0FFCC64B0A97}"/>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77796C"/>
                </a:solidFill>
                <a:latin typeface="Arial"/>
                <a:ea typeface="Arial"/>
                <a:cs typeface="Arial"/>
              </a:defRPr>
            </a:defPPr>
            <a:lvl1pPr>
              <a:defRPr sz="975" b="0">
                <a:solidFill>
                  <a:srgbClr val="77796C"/>
                </a:solidFill>
                <a:latin typeface="Arial"/>
                <a:ea typeface="Arial"/>
                <a:cs typeface="Arial"/>
              </a:defRPr>
            </a:lvl1pPr>
            <a:lvl2pPr>
              <a:defRPr sz="975" b="0">
                <a:solidFill>
                  <a:srgbClr val="77796C"/>
                </a:solidFill>
                <a:latin typeface="Arial"/>
                <a:ea typeface="Arial"/>
                <a:cs typeface="Arial"/>
              </a:defRPr>
            </a:lvl2pPr>
            <a:lvl3pPr>
              <a:defRPr sz="975" b="0">
                <a:solidFill>
                  <a:srgbClr val="77796C"/>
                </a:solidFill>
                <a:latin typeface="Arial"/>
                <a:ea typeface="Arial"/>
                <a:cs typeface="Arial"/>
              </a:defRPr>
            </a:lvl3pPr>
            <a:lvl4pPr>
              <a:defRPr sz="975" b="0">
                <a:solidFill>
                  <a:srgbClr val="77796C"/>
                </a:solidFill>
                <a:latin typeface="Arial"/>
                <a:ea typeface="Arial"/>
                <a:cs typeface="Arial"/>
              </a:defRPr>
            </a:lvl4pPr>
            <a:lvl5pPr>
              <a:defRPr sz="975" b="0">
                <a:solidFill>
                  <a:srgbClr val="77796C"/>
                </a:solidFill>
                <a:latin typeface="Arial"/>
                <a:ea typeface="Arial"/>
                <a:cs typeface="Arial"/>
              </a:defRPr>
            </a:lvl5pPr>
            <a:lvl6pPr>
              <a:defRPr sz="975" b="0">
                <a:solidFill>
                  <a:srgbClr val="77796C"/>
                </a:solidFill>
                <a:latin typeface="Arial"/>
                <a:ea typeface="Arial"/>
                <a:cs typeface="Arial"/>
              </a:defRPr>
            </a:lvl6pPr>
            <a:lvl7pPr>
              <a:defRPr sz="975" b="0">
                <a:solidFill>
                  <a:srgbClr val="77796C"/>
                </a:solidFill>
                <a:latin typeface="Arial"/>
                <a:ea typeface="Arial"/>
                <a:cs typeface="Arial"/>
              </a:defRPr>
            </a:lvl7pPr>
            <a:lvl8pPr>
              <a:defRPr sz="975" b="0">
                <a:solidFill>
                  <a:srgbClr val="77796C"/>
                </a:solidFill>
                <a:latin typeface="Arial"/>
                <a:ea typeface="Arial"/>
                <a:cs typeface="Arial"/>
              </a:defRPr>
            </a:lvl8pPr>
            <a:lvl9pPr>
              <a:defRPr sz="975" b="0">
                <a:solidFill>
                  <a:srgbClr val="77796C"/>
                </a:solidFill>
                <a:latin typeface="Arial"/>
                <a:ea typeface="Arial"/>
                <a:cs typeface="Arial"/>
              </a:defRPr>
            </a:lvl9pPr>
          </a:lstStyle>
          <a:p xmlns:a="http://schemas.openxmlformats.org/drawingml/2006/main">
            <a:pPr>
              <a:defRPr sz="975" b="0">
                <a:solidFill>
                  <a:srgbClr val="77796C"/>
                </a:solidFill>
                <a:latin typeface="Arial"/>
                <a:ea typeface="Arial"/>
                <a:cs typeface="Arial"/>
              </a:defRPr>
            </a:pPr>
            <a:r>
              <a:rPr sz="975" b="0">
                <a:solidFill>
                  <a:srgbClr val="77796C"/>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359F311-96ED-4A0D-92B7-5476E435323E}"/>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24251F"/>
                </a:solidFill>
                <a:latin typeface="Georgia"/>
                <a:ea typeface="Georgia"/>
                <a:cs typeface="Georgia"/>
              </a:defRPr>
            </a:defPPr>
            <a:lvl1pPr>
              <a:defRPr sz="3525" b="0">
                <a:solidFill>
                  <a:srgbClr val="24251F"/>
                </a:solidFill>
                <a:latin typeface="Georgia"/>
                <a:ea typeface="Georgia"/>
                <a:cs typeface="Georgia"/>
              </a:defRPr>
            </a:lvl1pPr>
            <a:lvl2pPr>
              <a:defRPr sz="3525" b="0">
                <a:solidFill>
                  <a:srgbClr val="24251F"/>
                </a:solidFill>
                <a:latin typeface="Georgia"/>
                <a:ea typeface="Georgia"/>
                <a:cs typeface="Georgia"/>
              </a:defRPr>
            </a:lvl2pPr>
            <a:lvl3pPr>
              <a:defRPr sz="3525" b="0">
                <a:solidFill>
                  <a:srgbClr val="24251F"/>
                </a:solidFill>
                <a:latin typeface="Georgia"/>
                <a:ea typeface="Georgia"/>
                <a:cs typeface="Georgia"/>
              </a:defRPr>
            </a:lvl3pPr>
            <a:lvl4pPr>
              <a:defRPr sz="3525" b="0">
                <a:solidFill>
                  <a:srgbClr val="24251F"/>
                </a:solidFill>
                <a:latin typeface="Georgia"/>
                <a:ea typeface="Georgia"/>
                <a:cs typeface="Georgia"/>
              </a:defRPr>
            </a:lvl4pPr>
            <a:lvl5pPr>
              <a:defRPr sz="3525" b="0">
                <a:solidFill>
                  <a:srgbClr val="24251F"/>
                </a:solidFill>
                <a:latin typeface="Georgia"/>
                <a:ea typeface="Georgia"/>
                <a:cs typeface="Georgia"/>
              </a:defRPr>
            </a:lvl5pPr>
            <a:lvl6pPr>
              <a:defRPr sz="3525" b="0">
                <a:solidFill>
                  <a:srgbClr val="24251F"/>
                </a:solidFill>
                <a:latin typeface="Georgia"/>
                <a:ea typeface="Georgia"/>
                <a:cs typeface="Georgia"/>
              </a:defRPr>
            </a:lvl6pPr>
            <a:lvl7pPr>
              <a:defRPr sz="3525" b="0">
                <a:solidFill>
                  <a:srgbClr val="24251F"/>
                </a:solidFill>
                <a:latin typeface="Georgia"/>
                <a:ea typeface="Georgia"/>
                <a:cs typeface="Georgia"/>
              </a:defRPr>
            </a:lvl7pPr>
            <a:lvl8pPr>
              <a:defRPr sz="3525" b="0">
                <a:solidFill>
                  <a:srgbClr val="24251F"/>
                </a:solidFill>
                <a:latin typeface="Georgia"/>
                <a:ea typeface="Georgia"/>
                <a:cs typeface="Georgia"/>
              </a:defRPr>
            </a:lvl8pPr>
            <a:lvl9pPr>
              <a:defRPr sz="3525" b="0">
                <a:solidFill>
                  <a:srgbClr val="24251F"/>
                </a:solidFill>
                <a:latin typeface="Georgia"/>
                <a:ea typeface="Georgia"/>
                <a:cs typeface="Georgia"/>
              </a:defRPr>
            </a:lvl9pPr>
          </a:lstStyle>
          <a:p xmlns:a="http://schemas.openxmlformats.org/drawingml/2006/main">
            <a:pPr>
              <a:defRPr sz="3525" b="0">
                <a:solidFill>
                  <a:srgbClr val="24251F"/>
                </a:solidFill>
                <a:latin typeface="Georgia"/>
                <a:ea typeface="Georgia"/>
                <a:cs typeface="Georgia"/>
              </a:defRPr>
            </a:pPr>
            <a:r>
              <a:rPr sz="3525" b="0">
                <a:solidFill>
                  <a:srgbClr val="24251F"/>
                </a:solidFill>
                <a:latin typeface="Georgia"/>
                <a:ea typeface="Georgia"/>
                <a:cs typeface="Georgia"/>
              </a:rPr>
              <a:t>The full testnet journey works</a:t>
            </a:r>
          </a:p>
        </p:txBody>
      </p:sp>
      <p:sp>
        <p:nvSpPr>
          <p:cNvPr id="5" name="">
            <a:extLst xmlns:a="http://schemas.openxmlformats.org/drawingml/2006/main">
              <a:ext uri="{FF2B5EF4-FFF2-40B4-BE49-F238E27FC236}">
                <a16:creationId xmlns:a16="http://schemas.microsoft.com/office/drawing/2014/main" id="{33D8C8F1-F8A5-4DD8-B6C4-8141BC142F46}"/>
              </a:ext>
            </a:extLst>
          </p:cNvPr>
          <p:cNvSpPr>
            <a:spLocks xmlns:a="http://schemas.openxmlformats.org/drawingml/2006/main" noGrp="1"/>
          </p:cNvSpPr>
          <p:nvPr/>
        </p:nvSpPr>
        <p:spPr>
          <a:xfrm xmlns:a="http://schemas.openxmlformats.org/drawingml/2006/main">
            <a:off x="609600" y="2162175"/>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925" b="0">
                <a:solidFill>
                  <a:srgbClr val="24251F"/>
                </a:solidFill>
                <a:latin typeface="Georgia"/>
                <a:ea typeface="Georgia"/>
                <a:cs typeface="Georgia"/>
              </a:defRPr>
            </a:defPPr>
            <a:lvl1pPr>
              <a:defRPr sz="5925" b="0">
                <a:solidFill>
                  <a:srgbClr val="24251F"/>
                </a:solidFill>
                <a:latin typeface="Georgia"/>
                <a:ea typeface="Georgia"/>
                <a:cs typeface="Georgia"/>
              </a:defRPr>
            </a:lvl1pPr>
            <a:lvl2pPr>
              <a:defRPr sz="5925" b="0">
                <a:solidFill>
                  <a:srgbClr val="24251F"/>
                </a:solidFill>
                <a:latin typeface="Georgia"/>
                <a:ea typeface="Georgia"/>
                <a:cs typeface="Georgia"/>
              </a:defRPr>
            </a:lvl2pPr>
            <a:lvl3pPr>
              <a:defRPr sz="5925" b="0">
                <a:solidFill>
                  <a:srgbClr val="24251F"/>
                </a:solidFill>
                <a:latin typeface="Georgia"/>
                <a:ea typeface="Georgia"/>
                <a:cs typeface="Georgia"/>
              </a:defRPr>
            </a:lvl3pPr>
            <a:lvl4pPr>
              <a:defRPr sz="5925" b="0">
                <a:solidFill>
                  <a:srgbClr val="24251F"/>
                </a:solidFill>
                <a:latin typeface="Georgia"/>
                <a:ea typeface="Georgia"/>
                <a:cs typeface="Georgia"/>
              </a:defRPr>
            </a:lvl4pPr>
            <a:lvl5pPr>
              <a:defRPr sz="5925" b="0">
                <a:solidFill>
                  <a:srgbClr val="24251F"/>
                </a:solidFill>
                <a:latin typeface="Georgia"/>
                <a:ea typeface="Georgia"/>
                <a:cs typeface="Georgia"/>
              </a:defRPr>
            </a:lvl5pPr>
            <a:lvl6pPr>
              <a:defRPr sz="5925" b="0">
                <a:solidFill>
                  <a:srgbClr val="24251F"/>
                </a:solidFill>
                <a:latin typeface="Georgia"/>
                <a:ea typeface="Georgia"/>
                <a:cs typeface="Georgia"/>
              </a:defRPr>
            </a:lvl6pPr>
            <a:lvl7pPr>
              <a:defRPr sz="5925" b="0">
                <a:solidFill>
                  <a:srgbClr val="24251F"/>
                </a:solidFill>
                <a:latin typeface="Georgia"/>
                <a:ea typeface="Georgia"/>
                <a:cs typeface="Georgia"/>
              </a:defRPr>
            </a:lvl7pPr>
            <a:lvl8pPr>
              <a:defRPr sz="5925" b="0">
                <a:solidFill>
                  <a:srgbClr val="24251F"/>
                </a:solidFill>
                <a:latin typeface="Georgia"/>
                <a:ea typeface="Georgia"/>
                <a:cs typeface="Georgia"/>
              </a:defRPr>
            </a:lvl8pPr>
            <a:lvl9pPr>
              <a:defRPr sz="5925" b="0">
                <a:solidFill>
                  <a:srgbClr val="24251F"/>
                </a:solidFill>
                <a:latin typeface="Georgia"/>
                <a:ea typeface="Georgia"/>
                <a:cs typeface="Georgia"/>
              </a:defRPr>
            </a:lvl9pPr>
          </a:lstStyle>
          <a:p xmlns:a="http://schemas.openxmlformats.org/drawingml/2006/main">
            <a:pPr>
              <a:defRPr sz="5925" b="0">
                <a:solidFill>
                  <a:srgbClr val="24251F"/>
                </a:solidFill>
                <a:latin typeface="Georgia"/>
                <a:ea typeface="Georgia"/>
                <a:cs typeface="Georgia"/>
              </a:defRPr>
            </a:pPr>
            <a:r>
              <a:rPr sz="5925" b="0">
                <a:solidFill>
                  <a:srgbClr val="24251F"/>
                </a:solidFill>
                <a:latin typeface="Georgia"/>
                <a:ea typeface="Georgia"/>
                <a:cs typeface="Georgia"/>
              </a:rPr>
              <a:t>0.045 BTC</a:t>
            </a:r>
          </a:p>
        </p:txBody>
      </p:sp>
      <p:sp>
        <p:nvSpPr>
          <p:cNvPr id="6" name="">
            <a:extLst xmlns:a="http://schemas.openxmlformats.org/drawingml/2006/main">
              <a:ext uri="{FF2B5EF4-FFF2-40B4-BE49-F238E27FC236}">
                <a16:creationId xmlns:a16="http://schemas.microsoft.com/office/drawing/2014/main" id="{FA17D0FC-FC94-452F-A062-6825B5FAC560}"/>
              </a:ext>
            </a:extLst>
          </p:cNvPr>
          <p:cNvSpPr>
            <a:spLocks xmlns:a="http://schemas.openxmlformats.org/drawingml/2006/main" noGrp="1"/>
          </p:cNvSpPr>
          <p:nvPr/>
        </p:nvSpPr>
        <p:spPr>
          <a:xfrm xmlns:a="http://schemas.openxmlformats.org/drawingml/2006/main">
            <a:off x="647700" y="325755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24251F"/>
                </a:solidFill>
                <a:latin typeface="Georgia"/>
                <a:ea typeface="Georgia"/>
                <a:cs typeface="Georgia"/>
              </a:defRPr>
            </a:defPPr>
            <a:lvl1pPr>
              <a:defRPr sz="2475" b="0">
                <a:solidFill>
                  <a:srgbClr val="24251F"/>
                </a:solidFill>
                <a:latin typeface="Georgia"/>
                <a:ea typeface="Georgia"/>
                <a:cs typeface="Georgia"/>
              </a:defRPr>
            </a:lvl1pPr>
            <a:lvl2pPr>
              <a:defRPr sz="2475" b="0">
                <a:solidFill>
                  <a:srgbClr val="24251F"/>
                </a:solidFill>
                <a:latin typeface="Georgia"/>
                <a:ea typeface="Georgia"/>
                <a:cs typeface="Georgia"/>
              </a:defRPr>
            </a:lvl2pPr>
            <a:lvl3pPr>
              <a:defRPr sz="2475" b="0">
                <a:solidFill>
                  <a:srgbClr val="24251F"/>
                </a:solidFill>
                <a:latin typeface="Georgia"/>
                <a:ea typeface="Georgia"/>
                <a:cs typeface="Georgia"/>
              </a:defRPr>
            </a:lvl3pPr>
            <a:lvl4pPr>
              <a:defRPr sz="2475" b="0">
                <a:solidFill>
                  <a:srgbClr val="24251F"/>
                </a:solidFill>
                <a:latin typeface="Georgia"/>
                <a:ea typeface="Georgia"/>
                <a:cs typeface="Georgia"/>
              </a:defRPr>
            </a:lvl4pPr>
            <a:lvl5pPr>
              <a:defRPr sz="2475" b="0">
                <a:solidFill>
                  <a:srgbClr val="24251F"/>
                </a:solidFill>
                <a:latin typeface="Georgia"/>
                <a:ea typeface="Georgia"/>
                <a:cs typeface="Georgia"/>
              </a:defRPr>
            </a:lvl5pPr>
            <a:lvl6pPr>
              <a:defRPr sz="2475" b="0">
                <a:solidFill>
                  <a:srgbClr val="24251F"/>
                </a:solidFill>
                <a:latin typeface="Georgia"/>
                <a:ea typeface="Georgia"/>
                <a:cs typeface="Georgia"/>
              </a:defRPr>
            </a:lvl6pPr>
            <a:lvl7pPr>
              <a:defRPr sz="2475" b="0">
                <a:solidFill>
                  <a:srgbClr val="24251F"/>
                </a:solidFill>
                <a:latin typeface="Georgia"/>
                <a:ea typeface="Georgia"/>
                <a:cs typeface="Georgia"/>
              </a:defRPr>
            </a:lvl7pPr>
            <a:lvl8pPr>
              <a:defRPr sz="2475" b="0">
                <a:solidFill>
                  <a:srgbClr val="24251F"/>
                </a:solidFill>
                <a:latin typeface="Georgia"/>
                <a:ea typeface="Georgia"/>
                <a:cs typeface="Georgia"/>
              </a:defRPr>
            </a:lvl8pPr>
            <a:lvl9pPr>
              <a:defRPr sz="2475" b="0">
                <a:solidFill>
                  <a:srgbClr val="24251F"/>
                </a:solidFill>
                <a:latin typeface="Georgia"/>
                <a:ea typeface="Georgia"/>
                <a:cs typeface="Georgia"/>
              </a:defRPr>
            </a:lvl9pPr>
          </a:lstStyle>
          <a:p xmlns:a="http://schemas.openxmlformats.org/drawingml/2006/main">
            <a:pPr>
              <a:defRPr sz="2475" b="0">
                <a:solidFill>
                  <a:srgbClr val="24251F"/>
                </a:solidFill>
                <a:latin typeface="Georgia"/>
                <a:ea typeface="Georgia"/>
                <a:cs typeface="Georgia"/>
              </a:defRPr>
            </a:pPr>
            <a:r>
              <a:rPr sz="2475" b="0">
                <a:solidFill>
                  <a:srgbClr val="24251F"/>
                </a:solidFill>
                <a:latin typeface="Georgia"/>
                <a:ea typeface="Georgia"/>
                <a:cs typeface="Georgia"/>
              </a:rPr>
              <a:t>Returned to the owner after loan closure</a:t>
            </a:r>
          </a:p>
        </p:txBody>
      </p:sp>
      <p:sp>
        <p:nvSpPr>
          <p:cNvPr id="7" name="">
            <a:extLst xmlns:a="http://schemas.openxmlformats.org/drawingml/2006/main">
              <a:ext uri="{FF2B5EF4-FFF2-40B4-BE49-F238E27FC236}">
                <a16:creationId xmlns:a16="http://schemas.microsoft.com/office/drawing/2014/main" id="{ABF4787C-0B38-427A-9950-02DB5EE5A347}"/>
              </a:ext>
            </a:extLst>
          </p:cNvPr>
          <p:cNvSpPr>
            <a:spLocks xmlns:a="http://schemas.openxmlformats.org/drawingml/2006/main" noGrp="1"/>
          </p:cNvSpPr>
          <p:nvPr/>
        </p:nvSpPr>
        <p:spPr>
          <a:xfrm xmlns:a="http://schemas.openxmlformats.org/drawingml/2006/main">
            <a:off x="647700" y="4400550"/>
            <a:ext cx="704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4251F"/>
                </a:solidFill>
                <a:latin typeface="Arial"/>
                <a:ea typeface="Arial"/>
                <a:cs typeface="Arial"/>
              </a:defRPr>
            </a:defPPr>
            <a:lvl1pPr>
              <a:defRPr sz="2025" b="0">
                <a:solidFill>
                  <a:srgbClr val="24251F"/>
                </a:solidFill>
                <a:latin typeface="Arial"/>
                <a:ea typeface="Arial"/>
                <a:cs typeface="Arial"/>
              </a:defRPr>
            </a:lvl1pPr>
            <a:lvl2pPr>
              <a:defRPr sz="2025" b="0">
                <a:solidFill>
                  <a:srgbClr val="24251F"/>
                </a:solidFill>
                <a:latin typeface="Arial"/>
                <a:ea typeface="Arial"/>
                <a:cs typeface="Arial"/>
              </a:defRPr>
            </a:lvl2pPr>
            <a:lvl3pPr>
              <a:defRPr sz="2025" b="0">
                <a:solidFill>
                  <a:srgbClr val="24251F"/>
                </a:solidFill>
                <a:latin typeface="Arial"/>
                <a:ea typeface="Arial"/>
                <a:cs typeface="Arial"/>
              </a:defRPr>
            </a:lvl3pPr>
            <a:lvl4pPr>
              <a:defRPr sz="2025" b="0">
                <a:solidFill>
                  <a:srgbClr val="24251F"/>
                </a:solidFill>
                <a:latin typeface="Arial"/>
                <a:ea typeface="Arial"/>
                <a:cs typeface="Arial"/>
              </a:defRPr>
            </a:lvl4pPr>
            <a:lvl5pPr>
              <a:defRPr sz="2025" b="0">
                <a:solidFill>
                  <a:srgbClr val="24251F"/>
                </a:solidFill>
                <a:latin typeface="Arial"/>
                <a:ea typeface="Arial"/>
                <a:cs typeface="Arial"/>
              </a:defRPr>
            </a:lvl5pPr>
            <a:lvl6pPr>
              <a:defRPr sz="2025" b="0">
                <a:solidFill>
                  <a:srgbClr val="24251F"/>
                </a:solidFill>
                <a:latin typeface="Arial"/>
                <a:ea typeface="Arial"/>
                <a:cs typeface="Arial"/>
              </a:defRPr>
            </a:lvl6pPr>
            <a:lvl7pPr>
              <a:defRPr sz="2025" b="0">
                <a:solidFill>
                  <a:srgbClr val="24251F"/>
                </a:solidFill>
                <a:latin typeface="Arial"/>
                <a:ea typeface="Arial"/>
                <a:cs typeface="Arial"/>
              </a:defRPr>
            </a:lvl7pPr>
            <a:lvl8pPr>
              <a:defRPr sz="2025" b="0">
                <a:solidFill>
                  <a:srgbClr val="24251F"/>
                </a:solidFill>
                <a:latin typeface="Arial"/>
                <a:ea typeface="Arial"/>
                <a:cs typeface="Arial"/>
              </a:defRPr>
            </a:lvl8pPr>
            <a:lvl9pPr>
              <a:defRPr sz="2025" b="0">
                <a:solidFill>
                  <a:srgbClr val="24251F"/>
                </a:solidFill>
                <a:latin typeface="Arial"/>
                <a:ea typeface="Arial"/>
                <a:cs typeface="Arial"/>
              </a:defRPr>
            </a:lvl9pPr>
          </a:lstStyle>
          <a:p xmlns:a="http://schemas.openxmlformats.org/drawingml/2006/main">
            <a:pPr>
              <a:defRPr sz="2025" b="0">
                <a:solidFill>
                  <a:srgbClr val="24251F"/>
                </a:solidFill>
                <a:latin typeface="Arial"/>
                <a:ea typeface="Arial"/>
                <a:cs typeface="Arial"/>
              </a:defRPr>
            </a:pPr>
            <a:r>
              <a:rPr sz="2025" b="0">
                <a:solidFill>
                  <a:srgbClr val="24251F"/>
                </a:solidFill>
                <a:latin typeface="Arial"/>
                <a:ea typeface="Arial"/>
                <a:cs typeface="Arial"/>
              </a:rPr>
              <a:t>Rabby in Chrome completed borrowing, invoice payment, repayment, top-up and full exit. Independent chain checks matched the debt, token burn and BTC return.</a:t>
            </a:r>
          </a:p>
        </p:txBody>
      </p:sp>
      <p:sp>
        <p:nvSpPr>
          <p:cNvPr id="8" name="">
            <a:extLst xmlns:a="http://schemas.openxmlformats.org/drawingml/2006/main">
              <a:ext uri="{FF2B5EF4-FFF2-40B4-BE49-F238E27FC236}">
                <a16:creationId xmlns:a16="http://schemas.microsoft.com/office/drawing/2014/main" id="{6712327A-92F9-43DA-83A9-E5E3A39248AD}"/>
              </a:ext>
            </a:extLst>
          </p:cNvPr>
          <p:cNvSpPr>
            <a:spLocks xmlns:a="http://schemas.openxmlformats.org/drawingml/2006/main" noGrp="1"/>
          </p:cNvSpPr>
          <p:nvPr/>
        </p:nvSpPr>
        <p:spPr>
          <a:xfrm xmlns:a="http://schemas.openxmlformats.org/drawingml/2006/main">
            <a:off x="8543925" y="2209800"/>
            <a:ext cx="2667000" cy="76200"/>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FD65D5-A818-44EA-99A9-179116D96936}"/>
              </a:ext>
            </a:extLst>
          </p:cNvPr>
          <p:cNvSpPr>
            <a:spLocks xmlns:a="http://schemas.openxmlformats.org/drawingml/2006/main" noGrp="1"/>
          </p:cNvSpPr>
          <p:nvPr/>
        </p:nvSpPr>
        <p:spPr>
          <a:xfrm xmlns:a="http://schemas.openxmlformats.org/drawingml/2006/main">
            <a:off x="8543925" y="2667000"/>
            <a:ext cx="2819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24251F"/>
                </a:solidFill>
                <a:latin typeface="Georgia"/>
                <a:ea typeface="Georgia"/>
                <a:cs typeface="Georgia"/>
              </a:defRPr>
            </a:defPPr>
            <a:lvl1pPr>
              <a:defRPr sz="2850" b="0">
                <a:solidFill>
                  <a:srgbClr val="24251F"/>
                </a:solidFill>
                <a:latin typeface="Georgia"/>
                <a:ea typeface="Georgia"/>
                <a:cs typeface="Georgia"/>
              </a:defRPr>
            </a:lvl1pPr>
            <a:lvl2pPr>
              <a:defRPr sz="2850" b="0">
                <a:solidFill>
                  <a:srgbClr val="24251F"/>
                </a:solidFill>
                <a:latin typeface="Georgia"/>
                <a:ea typeface="Georgia"/>
                <a:cs typeface="Georgia"/>
              </a:defRPr>
            </a:lvl2pPr>
            <a:lvl3pPr>
              <a:defRPr sz="2850" b="0">
                <a:solidFill>
                  <a:srgbClr val="24251F"/>
                </a:solidFill>
                <a:latin typeface="Georgia"/>
                <a:ea typeface="Georgia"/>
                <a:cs typeface="Georgia"/>
              </a:defRPr>
            </a:lvl3pPr>
            <a:lvl4pPr>
              <a:defRPr sz="2850" b="0">
                <a:solidFill>
                  <a:srgbClr val="24251F"/>
                </a:solidFill>
                <a:latin typeface="Georgia"/>
                <a:ea typeface="Georgia"/>
                <a:cs typeface="Georgia"/>
              </a:defRPr>
            </a:lvl4pPr>
            <a:lvl5pPr>
              <a:defRPr sz="2850" b="0">
                <a:solidFill>
                  <a:srgbClr val="24251F"/>
                </a:solidFill>
                <a:latin typeface="Georgia"/>
                <a:ea typeface="Georgia"/>
                <a:cs typeface="Georgia"/>
              </a:defRPr>
            </a:lvl5pPr>
            <a:lvl6pPr>
              <a:defRPr sz="2850" b="0">
                <a:solidFill>
                  <a:srgbClr val="24251F"/>
                </a:solidFill>
                <a:latin typeface="Georgia"/>
                <a:ea typeface="Georgia"/>
                <a:cs typeface="Georgia"/>
              </a:defRPr>
            </a:lvl6pPr>
            <a:lvl7pPr>
              <a:defRPr sz="2850" b="0">
                <a:solidFill>
                  <a:srgbClr val="24251F"/>
                </a:solidFill>
                <a:latin typeface="Georgia"/>
                <a:ea typeface="Georgia"/>
                <a:cs typeface="Georgia"/>
              </a:defRPr>
            </a:lvl7pPr>
            <a:lvl8pPr>
              <a:defRPr sz="2850" b="0">
                <a:solidFill>
                  <a:srgbClr val="24251F"/>
                </a:solidFill>
                <a:latin typeface="Georgia"/>
                <a:ea typeface="Georgia"/>
                <a:cs typeface="Georgia"/>
              </a:defRPr>
            </a:lvl8pPr>
            <a:lvl9pPr>
              <a:defRPr sz="2850" b="0">
                <a:solidFill>
                  <a:srgbClr val="24251F"/>
                </a:solidFill>
                <a:latin typeface="Georgia"/>
                <a:ea typeface="Georgia"/>
                <a:cs typeface="Georgia"/>
              </a:defRPr>
            </a:lvl9pPr>
          </a:lstStyle>
          <a:p xmlns:a="http://schemas.openxmlformats.org/drawingml/2006/main">
            <a:pPr>
              <a:defRPr sz="2850" b="0">
                <a:solidFill>
                  <a:srgbClr val="24251F"/>
                </a:solidFill>
                <a:latin typeface="Georgia"/>
                <a:ea typeface="Georgia"/>
                <a:cs typeface="Georgia"/>
              </a:defRPr>
            </a:pPr>
            <a:r>
              <a:rPr sz="2850" b="0">
                <a:solidFill>
                  <a:srgbClr val="24251F"/>
                </a:solidFill>
                <a:latin typeface="Georgia"/>
                <a:ea typeface="Georgia"/>
                <a:cs typeface="Georgia"/>
              </a:rPr>
              <a:t>Three accounts</a:t>
            </a:r>
          </a:p>
        </p:txBody>
      </p:sp>
      <p:sp>
        <p:nvSpPr>
          <p:cNvPr id="10" name="">
            <a:extLst xmlns:a="http://schemas.openxmlformats.org/drawingml/2006/main">
              <a:ext uri="{FF2B5EF4-FFF2-40B4-BE49-F238E27FC236}">
                <a16:creationId xmlns:a16="http://schemas.microsoft.com/office/drawing/2014/main" id="{2E42DE45-94D7-4A55-92FC-CB6C1830245C}"/>
              </a:ext>
            </a:extLst>
          </p:cNvPr>
          <p:cNvSpPr>
            <a:spLocks xmlns:a="http://schemas.openxmlformats.org/drawingml/2006/main" noGrp="1"/>
          </p:cNvSpPr>
          <p:nvPr/>
        </p:nvSpPr>
        <p:spPr>
          <a:xfrm xmlns:a="http://schemas.openxmlformats.org/drawingml/2006/main">
            <a:off x="8543925" y="37242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251F"/>
                </a:solidFill>
                <a:latin typeface="Arial"/>
                <a:ea typeface="Arial"/>
                <a:cs typeface="Arial"/>
              </a:defRPr>
            </a:defPPr>
            <a:lvl1pPr>
              <a:defRPr sz="1950" b="0">
                <a:solidFill>
                  <a:srgbClr val="24251F"/>
                </a:solidFill>
                <a:latin typeface="Arial"/>
                <a:ea typeface="Arial"/>
                <a:cs typeface="Arial"/>
              </a:defRPr>
            </a:lvl1pPr>
            <a:lvl2pPr>
              <a:defRPr sz="1950" b="0">
                <a:solidFill>
                  <a:srgbClr val="24251F"/>
                </a:solidFill>
                <a:latin typeface="Arial"/>
                <a:ea typeface="Arial"/>
                <a:cs typeface="Arial"/>
              </a:defRPr>
            </a:lvl2pPr>
            <a:lvl3pPr>
              <a:defRPr sz="1950" b="0">
                <a:solidFill>
                  <a:srgbClr val="24251F"/>
                </a:solidFill>
                <a:latin typeface="Arial"/>
                <a:ea typeface="Arial"/>
                <a:cs typeface="Arial"/>
              </a:defRPr>
            </a:lvl3pPr>
            <a:lvl4pPr>
              <a:defRPr sz="1950" b="0">
                <a:solidFill>
                  <a:srgbClr val="24251F"/>
                </a:solidFill>
                <a:latin typeface="Arial"/>
                <a:ea typeface="Arial"/>
                <a:cs typeface="Arial"/>
              </a:defRPr>
            </a:lvl4pPr>
            <a:lvl5pPr>
              <a:defRPr sz="1950" b="0">
                <a:solidFill>
                  <a:srgbClr val="24251F"/>
                </a:solidFill>
                <a:latin typeface="Arial"/>
                <a:ea typeface="Arial"/>
                <a:cs typeface="Arial"/>
              </a:defRPr>
            </a:lvl5pPr>
            <a:lvl6pPr>
              <a:defRPr sz="1950" b="0">
                <a:solidFill>
                  <a:srgbClr val="24251F"/>
                </a:solidFill>
                <a:latin typeface="Arial"/>
                <a:ea typeface="Arial"/>
                <a:cs typeface="Arial"/>
              </a:defRPr>
            </a:lvl6pPr>
            <a:lvl7pPr>
              <a:defRPr sz="1950" b="0">
                <a:solidFill>
                  <a:srgbClr val="24251F"/>
                </a:solidFill>
                <a:latin typeface="Arial"/>
                <a:ea typeface="Arial"/>
                <a:cs typeface="Arial"/>
              </a:defRPr>
            </a:lvl7pPr>
            <a:lvl8pPr>
              <a:defRPr sz="1950" b="0">
                <a:solidFill>
                  <a:srgbClr val="24251F"/>
                </a:solidFill>
                <a:latin typeface="Arial"/>
                <a:ea typeface="Arial"/>
                <a:cs typeface="Arial"/>
              </a:defRPr>
            </a:lvl8pPr>
            <a:lvl9pPr>
              <a:defRPr sz="1950" b="0">
                <a:solidFill>
                  <a:srgbClr val="24251F"/>
                </a:solidFill>
                <a:latin typeface="Arial"/>
                <a:ea typeface="Arial"/>
                <a:cs typeface="Arial"/>
              </a:defRPr>
            </a:lvl9pPr>
          </a:lstStyle>
          <a:p xmlns:a="http://schemas.openxmlformats.org/drawingml/2006/main">
            <a:pPr>
              <a:defRPr sz="1950" b="0">
                <a:solidFill>
                  <a:srgbClr val="24251F"/>
                </a:solidFill>
                <a:latin typeface="Arial"/>
                <a:ea typeface="Arial"/>
                <a:cs typeface="Arial"/>
              </a:defRPr>
            </a:pPr>
            <a:r>
              <a:rPr sz="1950" b="0">
                <a:solidFill>
                  <a:srgbClr val="24251F"/>
                </a:solidFill>
                <a:latin typeface="Arial"/>
                <a:ea typeface="Arial"/>
                <a:cs typeface="Arial"/>
              </a:rPr>
              <a:t>Auto-enrolled by the</a:t>
            </a:r>
          </a:p>
          <a:p xmlns:a="http://schemas.openxmlformats.org/drawingml/2006/main">
            <a:pPr>
              <a:defRPr sz="1950" b="0">
                <a:solidFill>
                  <a:srgbClr val="24251F"/>
                </a:solidFill>
                <a:latin typeface="Arial"/>
                <a:ea typeface="Arial"/>
                <a:cs typeface="Arial"/>
              </a:defRPr>
            </a:pPr>
            <a:r>
              <a:rPr sz="1950" b="0">
                <a:solidFill>
                  <a:srgbClr val="24251F"/>
                </a:solidFill>
                <a:latin typeface="Arial"/>
                <a:ea typeface="Arial"/>
                <a:cs typeface="Arial"/>
              </a:rPr>
              <a:t>hosted testnet keeper</a:t>
            </a:r>
          </a:p>
        </p:txBody>
      </p:sp>
      <p:sp>
        <p:nvSpPr>
          <p:cNvPr id="11" name="">
            <a:extLst xmlns:a="http://schemas.openxmlformats.org/drawingml/2006/main">
              <a:ext uri="{FF2B5EF4-FFF2-40B4-BE49-F238E27FC236}">
                <a16:creationId xmlns:a16="http://schemas.microsoft.com/office/drawing/2014/main" id="{3FBC816B-3B16-4381-A550-6CA303332C81}"/>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77796C"/>
                </a:solidFill>
                <a:latin typeface="Arial"/>
                <a:ea typeface="Arial"/>
                <a:cs typeface="Arial"/>
              </a:defRPr>
            </a:defPPr>
            <a:lvl1pPr>
              <a:defRPr sz="1125" b="0">
                <a:solidFill>
                  <a:srgbClr val="77796C"/>
                </a:solidFill>
                <a:latin typeface="Arial"/>
                <a:ea typeface="Arial"/>
                <a:cs typeface="Arial"/>
              </a:defRPr>
            </a:lvl1pPr>
            <a:lvl2pPr>
              <a:defRPr sz="1125" b="0">
                <a:solidFill>
                  <a:srgbClr val="77796C"/>
                </a:solidFill>
                <a:latin typeface="Arial"/>
                <a:ea typeface="Arial"/>
                <a:cs typeface="Arial"/>
              </a:defRPr>
            </a:lvl2pPr>
            <a:lvl3pPr>
              <a:defRPr sz="1125" b="0">
                <a:solidFill>
                  <a:srgbClr val="77796C"/>
                </a:solidFill>
                <a:latin typeface="Arial"/>
                <a:ea typeface="Arial"/>
                <a:cs typeface="Arial"/>
              </a:defRPr>
            </a:lvl3pPr>
            <a:lvl4pPr>
              <a:defRPr sz="1125" b="0">
                <a:solidFill>
                  <a:srgbClr val="77796C"/>
                </a:solidFill>
                <a:latin typeface="Arial"/>
                <a:ea typeface="Arial"/>
                <a:cs typeface="Arial"/>
              </a:defRPr>
            </a:lvl4pPr>
            <a:lvl5pPr>
              <a:defRPr sz="1125" b="0">
                <a:solidFill>
                  <a:srgbClr val="77796C"/>
                </a:solidFill>
                <a:latin typeface="Arial"/>
                <a:ea typeface="Arial"/>
                <a:cs typeface="Arial"/>
              </a:defRPr>
            </a:lvl5pPr>
            <a:lvl6pPr>
              <a:defRPr sz="1125" b="0">
                <a:solidFill>
                  <a:srgbClr val="77796C"/>
                </a:solidFill>
                <a:latin typeface="Arial"/>
                <a:ea typeface="Arial"/>
                <a:cs typeface="Arial"/>
              </a:defRPr>
            </a:lvl6pPr>
            <a:lvl7pPr>
              <a:defRPr sz="1125" b="0">
                <a:solidFill>
                  <a:srgbClr val="77796C"/>
                </a:solidFill>
                <a:latin typeface="Arial"/>
                <a:ea typeface="Arial"/>
                <a:cs typeface="Arial"/>
              </a:defRPr>
            </a:lvl7pPr>
            <a:lvl8pPr>
              <a:defRPr sz="1125" b="0">
                <a:solidFill>
                  <a:srgbClr val="77796C"/>
                </a:solidFill>
                <a:latin typeface="Arial"/>
                <a:ea typeface="Arial"/>
                <a:cs typeface="Arial"/>
              </a:defRPr>
            </a:lvl8pPr>
            <a:lvl9pPr>
              <a:defRPr sz="1125" b="0">
                <a:solidFill>
                  <a:srgbClr val="77796C"/>
                </a:solidFill>
                <a:latin typeface="Arial"/>
                <a:ea typeface="Arial"/>
                <a:cs typeface="Arial"/>
              </a:defRPr>
            </a:lvl9pPr>
          </a:lstStyle>
          <a:p xmlns:a="http://schemas.openxmlformats.org/drawingml/2006/main">
            <a:pPr>
              <a:defRPr sz="1125" b="0">
                <a:solidFill>
                  <a:srgbClr val="77796C"/>
                </a:solidFill>
                <a:latin typeface="Arial"/>
                <a:ea typeface="Arial"/>
                <a:cs typeface="Arial"/>
              </a:defRPr>
            </a:pPr>
            <a:r>
              <a:rPr sz="1125" b="0">
                <a:solidFill>
                  <a:srgbClr val="77796C"/>
                </a:solidFill>
                <a:latin typeface="Arial"/>
                <a:ea typeface="Arial"/>
                <a:cs typeface="Arial"/>
              </a:rPr>
              <a:t>Browser QA payer was the owner. Separate-customer proof is recorded in the original integration</a:t>
            </a:r>
          </a:p>
        </p:txBody>
      </p:sp>
    </p:spTree>
    <p:extLst>
      <p:ext uri="{BB962C8B-B14F-4D97-AF65-F5344CB8AC3E}">
        <p14:creationId xmlns:p14="http://schemas.microsoft.com/office/powerpoint/2010/main" val="420820772"/>
      </p:ext>
    </p:extLst>
  </p:cSld>
</p:sld>
</file>

<file path=ppt/slides/slide8.xml><?xml version="1.0" encoding="utf-8"?>
<p:sld xmlns:p="http://schemas.openxmlformats.org/presentationml/2006/main">
  <p:cSld>
    <p:bg>
      <p:bgPr>
        <a:solidFill xmlns:a="http://schemas.openxmlformats.org/drawingml/2006/main">
          <a:srgbClr val="2425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256D0E-A5BD-49A8-99D1-EBB8679AA305}"/>
              </a:ext>
            </a:extLst>
          </p:cNvPr>
          <p:cNvSpPr>
            <a:spLocks xmlns:a="http://schemas.openxmlformats.org/drawingml/2006/main" noGrp="1"/>
          </p:cNvSpPr>
          <p:nvPr/>
        </p:nvSpPr>
        <p:spPr>
          <a:xfrm xmlns:a="http://schemas.openxmlformats.org/drawingml/2006/main">
            <a:off x="609600" y="552450"/>
            <a:ext cx="10972800" cy="28575"/>
          </a:xfrm>
          <a:prstGeom xmlns:a="http://schemas.openxmlformats.org/drawingml/2006/main" prst="rect">
            <a:avLst/>
          </a:prstGeom>
          <a:solidFill xmlns:a="http://schemas.openxmlformats.org/drawingml/2006/main">
            <a:srgbClr val="B53B2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41C25F-3B0B-44B2-84CF-B64CE0187ABB}"/>
              </a:ext>
            </a:extLst>
          </p:cNvPr>
          <p:cNvSpPr>
            <a:spLocks xmlns:a="http://schemas.openxmlformats.org/drawingml/2006/main" noGrp="1"/>
          </p:cNvSpPr>
          <p:nvPr/>
        </p:nvSpPr>
        <p:spPr>
          <a:xfrm xmlns:a="http://schemas.openxmlformats.org/drawingml/2006/main">
            <a:off x="609600" y="2286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1">
                <a:solidFill>
                  <a:srgbClr val="F6F2E9"/>
                </a:solidFill>
                <a:latin typeface="Arial"/>
                <a:ea typeface="Arial"/>
                <a:cs typeface="Arial"/>
              </a:defRPr>
            </a:defPPr>
            <a:lvl1pPr>
              <a:defRPr sz="975" b="1">
                <a:solidFill>
                  <a:srgbClr val="F6F2E9"/>
                </a:solidFill>
                <a:latin typeface="Arial"/>
                <a:ea typeface="Arial"/>
                <a:cs typeface="Arial"/>
              </a:defRPr>
            </a:lvl1pPr>
            <a:lvl2pPr>
              <a:defRPr sz="975" b="1">
                <a:solidFill>
                  <a:srgbClr val="F6F2E9"/>
                </a:solidFill>
                <a:latin typeface="Arial"/>
                <a:ea typeface="Arial"/>
                <a:cs typeface="Arial"/>
              </a:defRPr>
            </a:lvl2pPr>
            <a:lvl3pPr>
              <a:defRPr sz="975" b="1">
                <a:solidFill>
                  <a:srgbClr val="F6F2E9"/>
                </a:solidFill>
                <a:latin typeface="Arial"/>
                <a:ea typeface="Arial"/>
                <a:cs typeface="Arial"/>
              </a:defRPr>
            </a:lvl3pPr>
            <a:lvl4pPr>
              <a:defRPr sz="975" b="1">
                <a:solidFill>
                  <a:srgbClr val="F6F2E9"/>
                </a:solidFill>
                <a:latin typeface="Arial"/>
                <a:ea typeface="Arial"/>
                <a:cs typeface="Arial"/>
              </a:defRPr>
            </a:lvl4pPr>
            <a:lvl5pPr>
              <a:defRPr sz="975" b="1">
                <a:solidFill>
                  <a:srgbClr val="F6F2E9"/>
                </a:solidFill>
                <a:latin typeface="Arial"/>
                <a:ea typeface="Arial"/>
                <a:cs typeface="Arial"/>
              </a:defRPr>
            </a:lvl5pPr>
            <a:lvl6pPr>
              <a:defRPr sz="975" b="1">
                <a:solidFill>
                  <a:srgbClr val="F6F2E9"/>
                </a:solidFill>
                <a:latin typeface="Arial"/>
                <a:ea typeface="Arial"/>
                <a:cs typeface="Arial"/>
              </a:defRPr>
            </a:lvl6pPr>
            <a:lvl7pPr>
              <a:defRPr sz="975" b="1">
                <a:solidFill>
                  <a:srgbClr val="F6F2E9"/>
                </a:solidFill>
                <a:latin typeface="Arial"/>
                <a:ea typeface="Arial"/>
                <a:cs typeface="Arial"/>
              </a:defRPr>
            </a:lvl7pPr>
            <a:lvl8pPr>
              <a:defRPr sz="975" b="1">
                <a:solidFill>
                  <a:srgbClr val="F6F2E9"/>
                </a:solidFill>
                <a:latin typeface="Arial"/>
                <a:ea typeface="Arial"/>
                <a:cs typeface="Arial"/>
              </a:defRPr>
            </a:lvl8pPr>
            <a:lvl9pPr>
              <a:defRPr sz="975" b="1">
                <a:solidFill>
                  <a:srgbClr val="F6F2E9"/>
                </a:solidFill>
                <a:latin typeface="Arial"/>
                <a:ea typeface="Arial"/>
                <a:cs typeface="Arial"/>
              </a:defRPr>
            </a:lvl9pPr>
          </a:lstStyle>
          <a:p xmlns:a="http://schemas.openxmlformats.org/drawingml/2006/main">
            <a:pPr>
              <a:defRPr sz="975" b="1">
                <a:solidFill>
                  <a:srgbClr val="F6F2E9"/>
                </a:solidFill>
                <a:latin typeface="Arial"/>
                <a:ea typeface="Arial"/>
                <a:cs typeface="Arial"/>
              </a:defRPr>
            </a:pPr>
            <a:r>
              <a:rPr sz="975" b="1">
                <a:solidFill>
                  <a:srgbClr val="F6F2E9"/>
                </a:solidFill>
                <a:latin typeface="Arial"/>
                <a:ea typeface="Arial"/>
                <a:cs typeface="Arial"/>
              </a:rPr>
              <a:t>TILLWARD</a:t>
            </a:r>
          </a:p>
        </p:txBody>
      </p:sp>
      <p:sp>
        <p:nvSpPr>
          <p:cNvPr id="3" name="">
            <a:extLst xmlns:a="http://schemas.openxmlformats.org/drawingml/2006/main">
              <a:ext uri="{FF2B5EF4-FFF2-40B4-BE49-F238E27FC236}">
                <a16:creationId xmlns:a16="http://schemas.microsoft.com/office/drawing/2014/main" id="{4BC92E5E-63F5-4E1E-A134-AED4FB5630C7}"/>
              </a:ext>
            </a:extLst>
          </p:cNvPr>
          <p:cNvSpPr>
            <a:spLocks xmlns:a="http://schemas.openxmlformats.org/drawingml/2006/main" noGrp="1"/>
          </p:cNvSpPr>
          <p:nvPr/>
        </p:nvSpPr>
        <p:spPr>
          <a:xfrm xmlns:a="http://schemas.openxmlformats.org/drawingml/2006/main">
            <a:off x="11182350" y="2286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F6F2E9"/>
                </a:solidFill>
                <a:latin typeface="Arial"/>
                <a:ea typeface="Arial"/>
                <a:cs typeface="Arial"/>
              </a:defRPr>
            </a:defPPr>
            <a:lvl1pPr>
              <a:defRPr sz="975" b="0">
                <a:solidFill>
                  <a:srgbClr val="F6F2E9"/>
                </a:solidFill>
                <a:latin typeface="Arial"/>
                <a:ea typeface="Arial"/>
                <a:cs typeface="Arial"/>
              </a:defRPr>
            </a:lvl1pPr>
            <a:lvl2pPr>
              <a:defRPr sz="975" b="0">
                <a:solidFill>
                  <a:srgbClr val="F6F2E9"/>
                </a:solidFill>
                <a:latin typeface="Arial"/>
                <a:ea typeface="Arial"/>
                <a:cs typeface="Arial"/>
              </a:defRPr>
            </a:lvl2pPr>
            <a:lvl3pPr>
              <a:defRPr sz="975" b="0">
                <a:solidFill>
                  <a:srgbClr val="F6F2E9"/>
                </a:solidFill>
                <a:latin typeface="Arial"/>
                <a:ea typeface="Arial"/>
                <a:cs typeface="Arial"/>
              </a:defRPr>
            </a:lvl3pPr>
            <a:lvl4pPr>
              <a:defRPr sz="975" b="0">
                <a:solidFill>
                  <a:srgbClr val="F6F2E9"/>
                </a:solidFill>
                <a:latin typeface="Arial"/>
                <a:ea typeface="Arial"/>
                <a:cs typeface="Arial"/>
              </a:defRPr>
            </a:lvl4pPr>
            <a:lvl5pPr>
              <a:defRPr sz="975" b="0">
                <a:solidFill>
                  <a:srgbClr val="F6F2E9"/>
                </a:solidFill>
                <a:latin typeface="Arial"/>
                <a:ea typeface="Arial"/>
                <a:cs typeface="Arial"/>
              </a:defRPr>
            </a:lvl5pPr>
            <a:lvl6pPr>
              <a:defRPr sz="975" b="0">
                <a:solidFill>
                  <a:srgbClr val="F6F2E9"/>
                </a:solidFill>
                <a:latin typeface="Arial"/>
                <a:ea typeface="Arial"/>
                <a:cs typeface="Arial"/>
              </a:defRPr>
            </a:lvl6pPr>
            <a:lvl7pPr>
              <a:defRPr sz="975" b="0">
                <a:solidFill>
                  <a:srgbClr val="F6F2E9"/>
                </a:solidFill>
                <a:latin typeface="Arial"/>
                <a:ea typeface="Arial"/>
                <a:cs typeface="Arial"/>
              </a:defRPr>
            </a:lvl7pPr>
            <a:lvl8pPr>
              <a:defRPr sz="975" b="0">
                <a:solidFill>
                  <a:srgbClr val="F6F2E9"/>
                </a:solidFill>
                <a:latin typeface="Arial"/>
                <a:ea typeface="Arial"/>
                <a:cs typeface="Arial"/>
              </a:defRPr>
            </a:lvl8pPr>
            <a:lvl9pPr>
              <a:defRPr sz="975" b="0">
                <a:solidFill>
                  <a:srgbClr val="F6F2E9"/>
                </a:solidFill>
                <a:latin typeface="Arial"/>
                <a:ea typeface="Arial"/>
                <a:cs typeface="Arial"/>
              </a:defRPr>
            </a:lvl9pPr>
          </a:lstStyle>
          <a:p xmlns:a="http://schemas.openxmlformats.org/drawingml/2006/main">
            <a:pPr>
              <a:defRPr sz="975" b="0">
                <a:solidFill>
                  <a:srgbClr val="F6F2E9"/>
                </a:solidFill>
                <a:latin typeface="Arial"/>
                <a:ea typeface="Arial"/>
                <a:cs typeface="Arial"/>
              </a:defRPr>
            </a:pPr>
            <a:r>
              <a:rPr sz="975" b="0">
                <a:solidFill>
                  <a:srgbClr val="F6F2E9"/>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69E2FBA-720A-49EF-B4F9-901DF615353F}"/>
              </a:ext>
            </a:extLst>
          </p:cNvPr>
          <p:cNvSpPr>
            <a:spLocks xmlns:a="http://schemas.openxmlformats.org/drawingml/2006/main" noGrp="1"/>
          </p:cNvSpPr>
          <p:nvPr/>
        </p:nvSpPr>
        <p:spPr>
          <a:xfrm xmlns:a="http://schemas.openxmlformats.org/drawingml/2006/main">
            <a:off x="609600" y="866775"/>
            <a:ext cx="1090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0">
                <a:solidFill>
                  <a:srgbClr val="F6F2E9"/>
                </a:solidFill>
                <a:latin typeface="Georgia"/>
                <a:ea typeface="Georgia"/>
                <a:cs typeface="Georgia"/>
              </a:defRPr>
            </a:defPPr>
            <a:lvl1pPr>
              <a:defRPr sz="3525" b="0">
                <a:solidFill>
                  <a:srgbClr val="F6F2E9"/>
                </a:solidFill>
                <a:latin typeface="Georgia"/>
                <a:ea typeface="Georgia"/>
                <a:cs typeface="Georgia"/>
              </a:defRPr>
            </a:lvl1pPr>
            <a:lvl2pPr>
              <a:defRPr sz="3525" b="0">
                <a:solidFill>
                  <a:srgbClr val="F6F2E9"/>
                </a:solidFill>
                <a:latin typeface="Georgia"/>
                <a:ea typeface="Georgia"/>
                <a:cs typeface="Georgia"/>
              </a:defRPr>
            </a:lvl2pPr>
            <a:lvl3pPr>
              <a:defRPr sz="3525" b="0">
                <a:solidFill>
                  <a:srgbClr val="F6F2E9"/>
                </a:solidFill>
                <a:latin typeface="Georgia"/>
                <a:ea typeface="Georgia"/>
                <a:cs typeface="Georgia"/>
              </a:defRPr>
            </a:lvl3pPr>
            <a:lvl4pPr>
              <a:defRPr sz="3525" b="0">
                <a:solidFill>
                  <a:srgbClr val="F6F2E9"/>
                </a:solidFill>
                <a:latin typeface="Georgia"/>
                <a:ea typeface="Georgia"/>
                <a:cs typeface="Georgia"/>
              </a:defRPr>
            </a:lvl4pPr>
            <a:lvl5pPr>
              <a:defRPr sz="3525" b="0">
                <a:solidFill>
                  <a:srgbClr val="F6F2E9"/>
                </a:solidFill>
                <a:latin typeface="Georgia"/>
                <a:ea typeface="Georgia"/>
                <a:cs typeface="Georgia"/>
              </a:defRPr>
            </a:lvl5pPr>
            <a:lvl6pPr>
              <a:defRPr sz="3525" b="0">
                <a:solidFill>
                  <a:srgbClr val="F6F2E9"/>
                </a:solidFill>
                <a:latin typeface="Georgia"/>
                <a:ea typeface="Georgia"/>
                <a:cs typeface="Georgia"/>
              </a:defRPr>
            </a:lvl6pPr>
            <a:lvl7pPr>
              <a:defRPr sz="3525" b="0">
                <a:solidFill>
                  <a:srgbClr val="F6F2E9"/>
                </a:solidFill>
                <a:latin typeface="Georgia"/>
                <a:ea typeface="Georgia"/>
                <a:cs typeface="Georgia"/>
              </a:defRPr>
            </a:lvl7pPr>
            <a:lvl8pPr>
              <a:defRPr sz="3525" b="0">
                <a:solidFill>
                  <a:srgbClr val="F6F2E9"/>
                </a:solidFill>
                <a:latin typeface="Georgia"/>
                <a:ea typeface="Georgia"/>
                <a:cs typeface="Georgia"/>
              </a:defRPr>
            </a:lvl8pPr>
            <a:lvl9pPr>
              <a:defRPr sz="3525" b="0">
                <a:solidFill>
                  <a:srgbClr val="F6F2E9"/>
                </a:solidFill>
                <a:latin typeface="Georgia"/>
                <a:ea typeface="Georgia"/>
                <a:cs typeface="Georgia"/>
              </a:defRPr>
            </a:lvl9pPr>
          </a:lstStyle>
          <a:p xmlns:a="http://schemas.openxmlformats.org/drawingml/2006/main">
            <a:pPr>
              <a:defRPr sz="3525" b="0">
                <a:solidFill>
                  <a:srgbClr val="F6F2E9"/>
                </a:solidFill>
                <a:latin typeface="Georgia"/>
                <a:ea typeface="Georgia"/>
                <a:cs typeface="Georgia"/>
              </a:defRPr>
            </a:pPr>
            <a:r>
              <a:rPr sz="3525" b="0">
                <a:solidFill>
                  <a:srgbClr val="F6F2E9"/>
                </a:solidFill>
                <a:latin typeface="Georgia"/>
                <a:ea typeface="Georgia"/>
                <a:cs typeface="Georgia"/>
              </a:rPr>
              <a:t>A working product, ready for pilot feedback</a:t>
            </a:r>
          </a:p>
        </p:txBody>
      </p:sp>
      <p:sp>
        <p:nvSpPr>
          <p:cNvPr id="5" name="">
            <a:extLst xmlns:a="http://schemas.openxmlformats.org/drawingml/2006/main">
              <a:ext uri="{FF2B5EF4-FFF2-40B4-BE49-F238E27FC236}">
                <a16:creationId xmlns:a16="http://schemas.microsoft.com/office/drawing/2014/main" id="{F5C6A05B-FBB3-426A-816B-2063492CA2FC}"/>
              </a:ext>
            </a:extLst>
          </p:cNvPr>
          <p:cNvSpPr>
            <a:spLocks xmlns:a="http://schemas.openxmlformats.org/drawingml/2006/main" noGrp="1"/>
          </p:cNvSpPr>
          <p:nvPr/>
        </p:nvSpPr>
        <p:spPr>
          <a:xfrm xmlns:a="http://schemas.openxmlformats.org/drawingml/2006/main">
            <a:off x="609600" y="23526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F6F2E9"/>
                </a:solidFill>
                <a:latin typeface="Georgia"/>
                <a:ea typeface="Georgia"/>
                <a:cs typeface="Georgia"/>
              </a:defRPr>
            </a:defPPr>
            <a:lvl1pPr>
              <a:defRPr sz="3225" b="0">
                <a:solidFill>
                  <a:srgbClr val="F6F2E9"/>
                </a:solidFill>
                <a:latin typeface="Georgia"/>
                <a:ea typeface="Georgia"/>
                <a:cs typeface="Georgia"/>
              </a:defRPr>
            </a:lvl1pPr>
            <a:lvl2pPr>
              <a:defRPr sz="3225" b="0">
                <a:solidFill>
                  <a:srgbClr val="F6F2E9"/>
                </a:solidFill>
                <a:latin typeface="Georgia"/>
                <a:ea typeface="Georgia"/>
                <a:cs typeface="Georgia"/>
              </a:defRPr>
            </a:lvl2pPr>
            <a:lvl3pPr>
              <a:defRPr sz="3225" b="0">
                <a:solidFill>
                  <a:srgbClr val="F6F2E9"/>
                </a:solidFill>
                <a:latin typeface="Georgia"/>
                <a:ea typeface="Georgia"/>
                <a:cs typeface="Georgia"/>
              </a:defRPr>
            </a:lvl3pPr>
            <a:lvl4pPr>
              <a:defRPr sz="3225" b="0">
                <a:solidFill>
                  <a:srgbClr val="F6F2E9"/>
                </a:solidFill>
                <a:latin typeface="Georgia"/>
                <a:ea typeface="Georgia"/>
                <a:cs typeface="Georgia"/>
              </a:defRPr>
            </a:lvl4pPr>
            <a:lvl5pPr>
              <a:defRPr sz="3225" b="0">
                <a:solidFill>
                  <a:srgbClr val="F6F2E9"/>
                </a:solidFill>
                <a:latin typeface="Georgia"/>
                <a:ea typeface="Georgia"/>
                <a:cs typeface="Georgia"/>
              </a:defRPr>
            </a:lvl5pPr>
            <a:lvl6pPr>
              <a:defRPr sz="3225" b="0">
                <a:solidFill>
                  <a:srgbClr val="F6F2E9"/>
                </a:solidFill>
                <a:latin typeface="Georgia"/>
                <a:ea typeface="Georgia"/>
                <a:cs typeface="Georgia"/>
              </a:defRPr>
            </a:lvl6pPr>
            <a:lvl7pPr>
              <a:defRPr sz="3225" b="0">
                <a:solidFill>
                  <a:srgbClr val="F6F2E9"/>
                </a:solidFill>
                <a:latin typeface="Georgia"/>
                <a:ea typeface="Georgia"/>
                <a:cs typeface="Georgia"/>
              </a:defRPr>
            </a:lvl7pPr>
            <a:lvl8pPr>
              <a:defRPr sz="3225" b="0">
                <a:solidFill>
                  <a:srgbClr val="F6F2E9"/>
                </a:solidFill>
                <a:latin typeface="Georgia"/>
                <a:ea typeface="Georgia"/>
                <a:cs typeface="Georgia"/>
              </a:defRPr>
            </a:lvl8pPr>
            <a:lvl9pPr>
              <a:defRPr sz="3225" b="0">
                <a:solidFill>
                  <a:srgbClr val="F6F2E9"/>
                </a:solidFill>
                <a:latin typeface="Georgia"/>
                <a:ea typeface="Georgia"/>
                <a:cs typeface="Georgia"/>
              </a:defRPr>
            </a:lvl9pPr>
          </a:lstStyle>
          <a:p xmlns:a="http://schemas.openxmlformats.org/drawingml/2006/main">
            <a:pPr>
              <a:defRPr sz="3225" b="0">
                <a:solidFill>
                  <a:srgbClr val="F6F2E9"/>
                </a:solidFill>
                <a:latin typeface="Georgia"/>
                <a:ea typeface="Georgia"/>
                <a:cs typeface="Georgia"/>
              </a:defRPr>
            </a:pPr>
            <a:r>
              <a:rPr sz="3225" b="0">
                <a:solidFill>
                  <a:srgbClr val="F6F2E9"/>
                </a:solidFill>
                <a:latin typeface="Georgia"/>
                <a:ea typeface="Georgia"/>
                <a:cs typeface="Georgia"/>
              </a:rPr>
              <a:t>The next question is customer fit</a:t>
            </a:r>
          </a:p>
        </p:txBody>
      </p:sp>
      <p:sp>
        <p:nvSpPr>
          <p:cNvPr id="6" name="">
            <a:extLst xmlns:a="http://schemas.openxmlformats.org/drawingml/2006/main">
              <a:ext uri="{FF2B5EF4-FFF2-40B4-BE49-F238E27FC236}">
                <a16:creationId xmlns:a16="http://schemas.microsoft.com/office/drawing/2014/main" id="{4A47E41B-97A1-476F-9BAA-C856B3C79CA7}"/>
              </a:ext>
            </a:extLst>
          </p:cNvPr>
          <p:cNvSpPr>
            <a:spLocks xmlns:a="http://schemas.openxmlformats.org/drawingml/2006/main" noGrp="1"/>
          </p:cNvSpPr>
          <p:nvPr/>
        </p:nvSpPr>
        <p:spPr>
          <a:xfrm xmlns:a="http://schemas.openxmlformats.org/drawingml/2006/main">
            <a:off x="609600" y="3333750"/>
            <a:ext cx="10096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6F2E9"/>
                </a:solidFill>
                <a:latin typeface="Arial"/>
                <a:ea typeface="Arial"/>
                <a:cs typeface="Arial"/>
              </a:defRPr>
            </a:defPPr>
            <a:lvl1pPr>
              <a:defRPr sz="2325" b="0">
                <a:solidFill>
                  <a:srgbClr val="F6F2E9"/>
                </a:solidFill>
                <a:latin typeface="Arial"/>
                <a:ea typeface="Arial"/>
                <a:cs typeface="Arial"/>
              </a:defRPr>
            </a:lvl1pPr>
            <a:lvl2pPr>
              <a:defRPr sz="2325" b="0">
                <a:solidFill>
                  <a:srgbClr val="F6F2E9"/>
                </a:solidFill>
                <a:latin typeface="Arial"/>
                <a:ea typeface="Arial"/>
                <a:cs typeface="Arial"/>
              </a:defRPr>
            </a:lvl2pPr>
            <a:lvl3pPr>
              <a:defRPr sz="2325" b="0">
                <a:solidFill>
                  <a:srgbClr val="F6F2E9"/>
                </a:solidFill>
                <a:latin typeface="Arial"/>
                <a:ea typeface="Arial"/>
                <a:cs typeface="Arial"/>
              </a:defRPr>
            </a:lvl3pPr>
            <a:lvl4pPr>
              <a:defRPr sz="2325" b="0">
                <a:solidFill>
                  <a:srgbClr val="F6F2E9"/>
                </a:solidFill>
                <a:latin typeface="Arial"/>
                <a:ea typeface="Arial"/>
                <a:cs typeface="Arial"/>
              </a:defRPr>
            </a:lvl4pPr>
            <a:lvl5pPr>
              <a:defRPr sz="2325" b="0">
                <a:solidFill>
                  <a:srgbClr val="F6F2E9"/>
                </a:solidFill>
                <a:latin typeface="Arial"/>
                <a:ea typeface="Arial"/>
                <a:cs typeface="Arial"/>
              </a:defRPr>
            </a:lvl5pPr>
            <a:lvl6pPr>
              <a:defRPr sz="2325" b="0">
                <a:solidFill>
                  <a:srgbClr val="F6F2E9"/>
                </a:solidFill>
                <a:latin typeface="Arial"/>
                <a:ea typeface="Arial"/>
                <a:cs typeface="Arial"/>
              </a:defRPr>
            </a:lvl6pPr>
            <a:lvl7pPr>
              <a:defRPr sz="2325" b="0">
                <a:solidFill>
                  <a:srgbClr val="F6F2E9"/>
                </a:solidFill>
                <a:latin typeface="Arial"/>
                <a:ea typeface="Arial"/>
                <a:cs typeface="Arial"/>
              </a:defRPr>
            </a:lvl7pPr>
            <a:lvl8pPr>
              <a:defRPr sz="2325" b="0">
                <a:solidFill>
                  <a:srgbClr val="F6F2E9"/>
                </a:solidFill>
                <a:latin typeface="Arial"/>
                <a:ea typeface="Arial"/>
                <a:cs typeface="Arial"/>
              </a:defRPr>
            </a:lvl8pPr>
            <a:lvl9pPr>
              <a:defRPr sz="2325" b="0">
                <a:solidFill>
                  <a:srgbClr val="F6F2E9"/>
                </a:solidFill>
                <a:latin typeface="Arial"/>
                <a:ea typeface="Arial"/>
                <a:cs typeface="Arial"/>
              </a:defRPr>
            </a:lvl9pPr>
          </a:lstStyle>
          <a:p xmlns:a="http://schemas.openxmlformats.org/drawingml/2006/main">
            <a:pPr>
              <a:defRPr sz="2325" b="0">
                <a:solidFill>
                  <a:srgbClr val="F6F2E9"/>
                </a:solidFill>
                <a:latin typeface="Arial"/>
                <a:ea typeface="Arial"/>
                <a:cs typeface="Arial"/>
              </a:defRPr>
            </a:pPr>
            <a:r>
              <a:rPr sz="2325" b="0">
                <a:solidFill>
                  <a:srgbClr val="F6F2E9"/>
                </a:solidFill>
                <a:latin typeface="Arial"/>
                <a:ea typeface="Arial"/>
                <a:cs typeface="Arial"/>
              </a:rPr>
              <a:t>Find BTC-holding agencies and sellers already collecting MUSD. Validate how they choose repayment shares and cash floors, then test the workflow in their day-to-day operations.</a:t>
            </a:r>
          </a:p>
        </p:txBody>
      </p:sp>
      <p:sp>
        <p:nvSpPr>
          <p:cNvPr id="7" name="">
            <a:extLst xmlns:a="http://schemas.openxmlformats.org/drawingml/2006/main">
              <a:ext uri="{FF2B5EF4-FFF2-40B4-BE49-F238E27FC236}">
                <a16:creationId xmlns:a16="http://schemas.microsoft.com/office/drawing/2014/main" id="{5E882051-C459-42F0-9448-B0A47ED74C09}"/>
              </a:ext>
            </a:extLst>
          </p:cNvPr>
          <p:cNvSpPr>
            <a:spLocks xmlns:a="http://schemas.openxmlformats.org/drawingml/2006/main" noGrp="1"/>
          </p:cNvSpPr>
          <p:nvPr/>
        </p:nvSpPr>
        <p:spPr>
          <a:xfrm xmlns:a="http://schemas.openxmlformats.org/drawingml/2006/main">
            <a:off x="609600" y="51625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8B5A8"/>
                </a:solidFill>
                <a:latin typeface="Arial"/>
                <a:ea typeface="Arial"/>
                <a:cs typeface="Arial"/>
              </a:defRPr>
            </a:defPPr>
            <a:lvl1pPr>
              <a:defRPr sz="2100" b="0">
                <a:solidFill>
                  <a:srgbClr val="D8B5A8"/>
                </a:solidFill>
                <a:latin typeface="Arial"/>
                <a:ea typeface="Arial"/>
                <a:cs typeface="Arial"/>
              </a:defRPr>
            </a:lvl1pPr>
            <a:lvl2pPr>
              <a:defRPr sz="2100" b="0">
                <a:solidFill>
                  <a:srgbClr val="D8B5A8"/>
                </a:solidFill>
                <a:latin typeface="Arial"/>
                <a:ea typeface="Arial"/>
                <a:cs typeface="Arial"/>
              </a:defRPr>
            </a:lvl2pPr>
            <a:lvl3pPr>
              <a:defRPr sz="2100" b="0">
                <a:solidFill>
                  <a:srgbClr val="D8B5A8"/>
                </a:solidFill>
                <a:latin typeface="Arial"/>
                <a:ea typeface="Arial"/>
                <a:cs typeface="Arial"/>
              </a:defRPr>
            </a:lvl3pPr>
            <a:lvl4pPr>
              <a:defRPr sz="2100" b="0">
                <a:solidFill>
                  <a:srgbClr val="D8B5A8"/>
                </a:solidFill>
                <a:latin typeface="Arial"/>
                <a:ea typeface="Arial"/>
                <a:cs typeface="Arial"/>
              </a:defRPr>
            </a:lvl4pPr>
            <a:lvl5pPr>
              <a:defRPr sz="2100" b="0">
                <a:solidFill>
                  <a:srgbClr val="D8B5A8"/>
                </a:solidFill>
                <a:latin typeface="Arial"/>
                <a:ea typeface="Arial"/>
                <a:cs typeface="Arial"/>
              </a:defRPr>
            </a:lvl5pPr>
            <a:lvl6pPr>
              <a:defRPr sz="2100" b="0">
                <a:solidFill>
                  <a:srgbClr val="D8B5A8"/>
                </a:solidFill>
                <a:latin typeface="Arial"/>
                <a:ea typeface="Arial"/>
                <a:cs typeface="Arial"/>
              </a:defRPr>
            </a:lvl6pPr>
            <a:lvl7pPr>
              <a:defRPr sz="2100" b="0">
                <a:solidFill>
                  <a:srgbClr val="D8B5A8"/>
                </a:solidFill>
                <a:latin typeface="Arial"/>
                <a:ea typeface="Arial"/>
                <a:cs typeface="Arial"/>
              </a:defRPr>
            </a:lvl7pPr>
            <a:lvl8pPr>
              <a:defRPr sz="2100" b="0">
                <a:solidFill>
                  <a:srgbClr val="D8B5A8"/>
                </a:solidFill>
                <a:latin typeface="Arial"/>
                <a:ea typeface="Arial"/>
                <a:cs typeface="Arial"/>
              </a:defRPr>
            </a:lvl8pPr>
            <a:lvl9pPr>
              <a:defRPr sz="2100" b="0">
                <a:solidFill>
                  <a:srgbClr val="D8B5A8"/>
                </a:solidFill>
                <a:latin typeface="Arial"/>
                <a:ea typeface="Arial"/>
                <a:cs typeface="Arial"/>
              </a:defRPr>
            </a:lvl9pPr>
          </a:lstStyle>
          <a:p xmlns:a="http://schemas.openxmlformats.org/drawingml/2006/main">
            <a:pPr>
              <a:defRPr sz="2100" b="0">
                <a:solidFill>
                  <a:srgbClr val="D8B5A8"/>
                </a:solidFill>
                <a:latin typeface="Arial"/>
                <a:ea typeface="Arial"/>
                <a:cs typeface="Arial"/>
              </a:defRPr>
            </a:pPr>
            <a:r>
              <a:rPr sz="2100" b="0">
                <a:solidFill>
                  <a:srgbClr val="D8B5A8"/>
                </a:solidFill>
                <a:latin typeface="Arial"/>
                <a:ea typeface="Arial"/>
                <a:cs typeface="Arial"/>
              </a:rPr>
              <a:t>github.com/ShalyX/tillward</a:t>
            </a:r>
          </a:p>
        </p:txBody>
      </p:sp>
      <p:sp>
        <p:nvSpPr>
          <p:cNvPr id="8" name="">
            <a:extLst xmlns:a="http://schemas.openxmlformats.org/drawingml/2006/main">
              <a:ext uri="{FF2B5EF4-FFF2-40B4-BE49-F238E27FC236}">
                <a16:creationId xmlns:a16="http://schemas.microsoft.com/office/drawing/2014/main" id="{D9F182C9-2AED-4A72-B588-29FBFD95EEAF}"/>
              </a:ext>
            </a:extLst>
          </p:cNvPr>
          <p:cNvSpPr>
            <a:spLocks xmlns:a="http://schemas.openxmlformats.org/drawingml/2006/main" noGrp="1"/>
          </p:cNvSpPr>
          <p:nvPr/>
        </p:nvSpPr>
        <p:spPr>
          <a:xfrm xmlns:a="http://schemas.openxmlformats.org/drawingml/2006/main">
            <a:off x="609600" y="56483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6B8AA"/>
                </a:solidFill>
                <a:latin typeface="Arial"/>
                <a:ea typeface="Arial"/>
                <a:cs typeface="Arial"/>
              </a:defRPr>
            </a:defPPr>
            <a:lvl1pPr>
              <a:defRPr sz="1950" b="0">
                <a:solidFill>
                  <a:srgbClr val="B6B8AA"/>
                </a:solidFill>
                <a:latin typeface="Arial"/>
                <a:ea typeface="Arial"/>
                <a:cs typeface="Arial"/>
              </a:defRPr>
            </a:lvl1pPr>
            <a:lvl2pPr>
              <a:defRPr sz="1950" b="0">
                <a:solidFill>
                  <a:srgbClr val="B6B8AA"/>
                </a:solidFill>
                <a:latin typeface="Arial"/>
                <a:ea typeface="Arial"/>
                <a:cs typeface="Arial"/>
              </a:defRPr>
            </a:lvl2pPr>
            <a:lvl3pPr>
              <a:defRPr sz="1950" b="0">
                <a:solidFill>
                  <a:srgbClr val="B6B8AA"/>
                </a:solidFill>
                <a:latin typeface="Arial"/>
                <a:ea typeface="Arial"/>
                <a:cs typeface="Arial"/>
              </a:defRPr>
            </a:lvl3pPr>
            <a:lvl4pPr>
              <a:defRPr sz="1950" b="0">
                <a:solidFill>
                  <a:srgbClr val="B6B8AA"/>
                </a:solidFill>
                <a:latin typeface="Arial"/>
                <a:ea typeface="Arial"/>
                <a:cs typeface="Arial"/>
              </a:defRPr>
            </a:lvl4pPr>
            <a:lvl5pPr>
              <a:defRPr sz="1950" b="0">
                <a:solidFill>
                  <a:srgbClr val="B6B8AA"/>
                </a:solidFill>
                <a:latin typeface="Arial"/>
                <a:ea typeface="Arial"/>
                <a:cs typeface="Arial"/>
              </a:defRPr>
            </a:lvl5pPr>
            <a:lvl6pPr>
              <a:defRPr sz="1950" b="0">
                <a:solidFill>
                  <a:srgbClr val="B6B8AA"/>
                </a:solidFill>
                <a:latin typeface="Arial"/>
                <a:ea typeface="Arial"/>
                <a:cs typeface="Arial"/>
              </a:defRPr>
            </a:lvl6pPr>
            <a:lvl7pPr>
              <a:defRPr sz="1950" b="0">
                <a:solidFill>
                  <a:srgbClr val="B6B8AA"/>
                </a:solidFill>
                <a:latin typeface="Arial"/>
                <a:ea typeface="Arial"/>
                <a:cs typeface="Arial"/>
              </a:defRPr>
            </a:lvl7pPr>
            <a:lvl8pPr>
              <a:defRPr sz="1950" b="0">
                <a:solidFill>
                  <a:srgbClr val="B6B8AA"/>
                </a:solidFill>
                <a:latin typeface="Arial"/>
                <a:ea typeface="Arial"/>
                <a:cs typeface="Arial"/>
              </a:defRPr>
            </a:lvl8pPr>
            <a:lvl9pPr>
              <a:defRPr sz="1950" b="0">
                <a:solidFill>
                  <a:srgbClr val="B6B8AA"/>
                </a:solidFill>
                <a:latin typeface="Arial"/>
                <a:ea typeface="Arial"/>
                <a:cs typeface="Arial"/>
              </a:defRPr>
            </a:lvl9pPr>
          </a:lstStyle>
          <a:p xmlns:a="http://schemas.openxmlformats.org/drawingml/2006/main">
            <a:pPr>
              <a:defRPr sz="1950" b="0">
                <a:solidFill>
                  <a:srgbClr val="B6B8AA"/>
                </a:solidFill>
                <a:latin typeface="Arial"/>
                <a:ea typeface="Arial"/>
                <a:cs typeface="Arial"/>
              </a:defRPr>
            </a:pPr>
            <a:r>
              <a:rPr sz="1950" b="0">
                <a:solidFill>
                  <a:srgbClr val="B6B8AA"/>
                </a:solidFill>
                <a:latin typeface="Arial"/>
                <a:ea typeface="Arial"/>
                <a:cs typeface="Arial"/>
              </a:rPr>
              <a:t>tillward.vercel.app</a:t>
            </a:r>
          </a:p>
        </p:txBody>
      </p:sp>
      <p:sp>
        <p:nvSpPr>
          <p:cNvPr id="9" name="">
            <a:extLst xmlns:a="http://schemas.openxmlformats.org/drawingml/2006/main">
              <a:ext uri="{FF2B5EF4-FFF2-40B4-BE49-F238E27FC236}">
                <a16:creationId xmlns:a16="http://schemas.microsoft.com/office/drawing/2014/main" id="{B46AD9E1-AD26-4A55-8571-E2D77D799C3C}"/>
              </a:ext>
            </a:extLst>
          </p:cNvPr>
          <p:cNvSpPr>
            <a:spLocks xmlns:a="http://schemas.openxmlformats.org/drawingml/2006/main" noGrp="1"/>
          </p:cNvSpPr>
          <p:nvPr/>
        </p:nvSpPr>
        <p:spPr>
          <a:xfrm xmlns:a="http://schemas.openxmlformats.org/drawingml/2006/main">
            <a:off x="7334250" y="57054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6B8AA"/>
                </a:solidFill>
                <a:latin typeface="Arial"/>
                <a:ea typeface="Arial"/>
                <a:cs typeface="Arial"/>
              </a:defRPr>
            </a:defPPr>
            <a:lvl1pPr>
              <a:defRPr sz="1725" b="0">
                <a:solidFill>
                  <a:srgbClr val="B6B8AA"/>
                </a:solidFill>
                <a:latin typeface="Arial"/>
                <a:ea typeface="Arial"/>
                <a:cs typeface="Arial"/>
              </a:defRPr>
            </a:lvl1pPr>
            <a:lvl2pPr>
              <a:defRPr sz="1725" b="0">
                <a:solidFill>
                  <a:srgbClr val="B6B8AA"/>
                </a:solidFill>
                <a:latin typeface="Arial"/>
                <a:ea typeface="Arial"/>
                <a:cs typeface="Arial"/>
              </a:defRPr>
            </a:lvl2pPr>
            <a:lvl3pPr>
              <a:defRPr sz="1725" b="0">
                <a:solidFill>
                  <a:srgbClr val="B6B8AA"/>
                </a:solidFill>
                <a:latin typeface="Arial"/>
                <a:ea typeface="Arial"/>
                <a:cs typeface="Arial"/>
              </a:defRPr>
            </a:lvl3pPr>
            <a:lvl4pPr>
              <a:defRPr sz="1725" b="0">
                <a:solidFill>
                  <a:srgbClr val="B6B8AA"/>
                </a:solidFill>
                <a:latin typeface="Arial"/>
                <a:ea typeface="Arial"/>
                <a:cs typeface="Arial"/>
              </a:defRPr>
            </a:lvl4pPr>
            <a:lvl5pPr>
              <a:defRPr sz="1725" b="0">
                <a:solidFill>
                  <a:srgbClr val="B6B8AA"/>
                </a:solidFill>
                <a:latin typeface="Arial"/>
                <a:ea typeface="Arial"/>
                <a:cs typeface="Arial"/>
              </a:defRPr>
            </a:lvl5pPr>
            <a:lvl6pPr>
              <a:defRPr sz="1725" b="0">
                <a:solidFill>
                  <a:srgbClr val="B6B8AA"/>
                </a:solidFill>
                <a:latin typeface="Arial"/>
                <a:ea typeface="Arial"/>
                <a:cs typeface="Arial"/>
              </a:defRPr>
            </a:lvl6pPr>
            <a:lvl7pPr>
              <a:defRPr sz="1725" b="0">
                <a:solidFill>
                  <a:srgbClr val="B6B8AA"/>
                </a:solidFill>
                <a:latin typeface="Arial"/>
                <a:ea typeface="Arial"/>
                <a:cs typeface="Arial"/>
              </a:defRPr>
            </a:lvl7pPr>
            <a:lvl8pPr>
              <a:defRPr sz="1725" b="0">
                <a:solidFill>
                  <a:srgbClr val="B6B8AA"/>
                </a:solidFill>
                <a:latin typeface="Arial"/>
                <a:ea typeface="Arial"/>
                <a:cs typeface="Arial"/>
              </a:defRPr>
            </a:lvl8pPr>
            <a:lvl9pPr>
              <a:defRPr sz="1725" b="0">
                <a:solidFill>
                  <a:srgbClr val="B6B8AA"/>
                </a:solidFill>
                <a:latin typeface="Arial"/>
                <a:ea typeface="Arial"/>
                <a:cs typeface="Arial"/>
              </a:defRPr>
            </a:lvl9pPr>
          </a:lstStyle>
          <a:p xmlns:a="http://schemas.openxmlformats.org/drawingml/2006/main">
            <a:pPr>
              <a:defRPr sz="1725" b="0">
                <a:solidFill>
                  <a:srgbClr val="B6B8AA"/>
                </a:solidFill>
                <a:latin typeface="Arial"/>
                <a:ea typeface="Arial"/>
                <a:cs typeface="Arial"/>
              </a:defRPr>
            </a:pPr>
            <a:r>
              <a:rPr sz="1725" b="0">
                <a:solidFill>
                  <a:srgbClr val="B6B8AA"/>
                </a:solidFill>
                <a:latin typeface="Arial"/>
                <a:ea typeface="Arial"/>
                <a:cs typeface="Arial"/>
              </a:rPr>
              <a:t>Shaly / x.com/shalyx_04</a:t>
            </a:r>
          </a:p>
        </p:txBody>
      </p:sp>
      <p:sp>
        <p:nvSpPr>
          <p:cNvPr id="10" name="">
            <a:extLst xmlns:a="http://schemas.openxmlformats.org/drawingml/2006/main">
              <a:ext uri="{FF2B5EF4-FFF2-40B4-BE49-F238E27FC236}">
                <a16:creationId xmlns:a16="http://schemas.microsoft.com/office/drawing/2014/main" id="{6FEAB3E5-C0FB-4084-BDF9-9893F5764463}"/>
              </a:ext>
            </a:extLst>
          </p:cNvPr>
          <p:cNvSpPr>
            <a:spLocks xmlns:a="http://schemas.openxmlformats.org/drawingml/2006/main" noGrp="1"/>
          </p:cNvSpPr>
          <p:nvPr/>
        </p:nvSpPr>
        <p:spPr>
          <a:xfrm xmlns:a="http://schemas.openxmlformats.org/drawingml/2006/main">
            <a:off x="609600" y="62579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6B8AA"/>
                </a:solidFill>
                <a:latin typeface="Arial"/>
                <a:ea typeface="Arial"/>
                <a:cs typeface="Arial"/>
              </a:defRPr>
            </a:defPPr>
            <a:lvl1pPr>
              <a:defRPr sz="1125" b="0">
                <a:solidFill>
                  <a:srgbClr val="B6B8AA"/>
                </a:solidFill>
                <a:latin typeface="Arial"/>
                <a:ea typeface="Arial"/>
                <a:cs typeface="Arial"/>
              </a:defRPr>
            </a:lvl1pPr>
            <a:lvl2pPr>
              <a:defRPr sz="1125" b="0">
                <a:solidFill>
                  <a:srgbClr val="B6B8AA"/>
                </a:solidFill>
                <a:latin typeface="Arial"/>
                <a:ea typeface="Arial"/>
                <a:cs typeface="Arial"/>
              </a:defRPr>
            </a:lvl2pPr>
            <a:lvl3pPr>
              <a:defRPr sz="1125" b="0">
                <a:solidFill>
                  <a:srgbClr val="B6B8AA"/>
                </a:solidFill>
                <a:latin typeface="Arial"/>
                <a:ea typeface="Arial"/>
                <a:cs typeface="Arial"/>
              </a:defRPr>
            </a:lvl3pPr>
            <a:lvl4pPr>
              <a:defRPr sz="1125" b="0">
                <a:solidFill>
                  <a:srgbClr val="B6B8AA"/>
                </a:solidFill>
                <a:latin typeface="Arial"/>
                <a:ea typeface="Arial"/>
                <a:cs typeface="Arial"/>
              </a:defRPr>
            </a:lvl4pPr>
            <a:lvl5pPr>
              <a:defRPr sz="1125" b="0">
                <a:solidFill>
                  <a:srgbClr val="B6B8AA"/>
                </a:solidFill>
                <a:latin typeface="Arial"/>
                <a:ea typeface="Arial"/>
                <a:cs typeface="Arial"/>
              </a:defRPr>
            </a:lvl5pPr>
            <a:lvl6pPr>
              <a:defRPr sz="1125" b="0">
                <a:solidFill>
                  <a:srgbClr val="B6B8AA"/>
                </a:solidFill>
                <a:latin typeface="Arial"/>
                <a:ea typeface="Arial"/>
                <a:cs typeface="Arial"/>
              </a:defRPr>
            </a:lvl6pPr>
            <a:lvl7pPr>
              <a:defRPr sz="1125" b="0">
                <a:solidFill>
                  <a:srgbClr val="B6B8AA"/>
                </a:solidFill>
                <a:latin typeface="Arial"/>
                <a:ea typeface="Arial"/>
                <a:cs typeface="Arial"/>
              </a:defRPr>
            </a:lvl7pPr>
            <a:lvl8pPr>
              <a:defRPr sz="1125" b="0">
                <a:solidFill>
                  <a:srgbClr val="B6B8AA"/>
                </a:solidFill>
                <a:latin typeface="Arial"/>
                <a:ea typeface="Arial"/>
                <a:cs typeface="Arial"/>
              </a:defRPr>
            </a:lvl8pPr>
            <a:lvl9pPr>
              <a:defRPr sz="1125" b="0">
                <a:solidFill>
                  <a:srgbClr val="B6B8AA"/>
                </a:solidFill>
                <a:latin typeface="Arial"/>
                <a:ea typeface="Arial"/>
                <a:cs typeface="Arial"/>
              </a:defRPr>
            </a:lvl9pPr>
          </a:lstStyle>
          <a:p xmlns:a="http://schemas.openxmlformats.org/drawingml/2006/main">
            <a:pPr>
              <a:defRPr sz="1125" b="0">
                <a:solidFill>
                  <a:srgbClr val="B6B8AA"/>
                </a:solidFill>
                <a:latin typeface="Arial"/>
                <a:ea typeface="Arial"/>
                <a:cs typeface="Arial"/>
              </a:defRPr>
            </a:pPr>
            <a:r>
              <a:rPr sz="1125" b="0">
                <a:solidFill>
                  <a:srgbClr val="B6B8AA"/>
                </a:solidFill>
                <a:latin typeface="Arial"/>
                <a:ea typeface="Arial"/>
                <a:cs typeface="Arial"/>
              </a:rPr>
              <a:t>Mezo testnet only. No customer adoption or mainnet readiness claimed</a:t>
            </a:r>
          </a:p>
        </p:txBody>
      </p:sp>
    </p:spTree>
    <p:extLst>
      <p:ext uri="{BB962C8B-B14F-4D97-AF65-F5344CB8AC3E}">
        <p14:creationId xmlns:p14="http://schemas.microsoft.com/office/powerpoint/2010/main" val="9746251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2026-10-25T21:23:50.0730000Z</dcterms:created>
  <dcterms:modified xsi:type="dcterms:W3CDTF">2026-10-25T21:23:50.0730000Z</dcterms:modified>
</coreProperties>
</file>